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9"/>
  </p:notesMasterIdLst>
  <p:handoutMasterIdLst>
    <p:handoutMasterId r:id="rId20"/>
  </p:handoutMasterIdLst>
  <p:sldIdLst>
    <p:sldId id="256" r:id="rId2"/>
    <p:sldId id="289" r:id="rId3"/>
    <p:sldId id="295" r:id="rId4"/>
    <p:sldId id="302" r:id="rId5"/>
    <p:sldId id="303" r:id="rId6"/>
    <p:sldId id="304" r:id="rId7"/>
    <p:sldId id="291" r:id="rId8"/>
    <p:sldId id="296" r:id="rId9"/>
    <p:sldId id="294" r:id="rId10"/>
    <p:sldId id="299" r:id="rId11"/>
    <p:sldId id="300" r:id="rId12"/>
    <p:sldId id="301" r:id="rId13"/>
    <p:sldId id="297" r:id="rId14"/>
    <p:sldId id="290" r:id="rId15"/>
    <p:sldId id="292" r:id="rId16"/>
    <p:sldId id="298" r:id="rId17"/>
    <p:sldId id="288" r:id="rId18"/>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68" d="100"/>
          <a:sy n="68" d="100"/>
        </p:scale>
        <p:origin x="48" y="106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10/03/2026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10/03/2026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3" Type="http://schemas.openxmlformats.org/officeDocument/2006/relationships/image" Target="../media/image3.pn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4" Type="http://schemas.openxmlformats.org/officeDocument/2006/relationships/image" Target="../media/image4.svg"/><Relationship Id="rId9" Type="http://schemas.openxmlformats.org/officeDocument/2006/relationships/image" Target="../media/image13.png"/><Relationship Id="rId14"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Student:Nadia</a:t>
            </a:r>
            <a:r>
              <a:rPr lang="es-ES" spc="165" dirty="0">
                <a:latin typeface="Arial"/>
                <a:cs typeface="Arial"/>
              </a:rPr>
              <a:t> Martí García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Observamos</a:t>
            </a:r>
            <a:r>
              <a:rPr lang="en-US" sz="1200" dirty="0">
                <a:latin typeface="Arial" panose="020B0604020202020204" pitchFamily="34" charset="0"/>
                <a:cs typeface="Arial" panose="020B0604020202020204" pitchFamily="34" charset="0"/>
              </a:rPr>
              <a:t> que a una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de L=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obtenemos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arriba</a:t>
            </a:r>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Para </a:t>
            </a:r>
            <a:r>
              <a:rPr lang="en-US" sz="1200" dirty="0" err="1">
                <a:latin typeface="Arial" panose="020B0604020202020204" pitchFamily="34" charset="0"/>
                <a:cs typeface="Arial" panose="020B0604020202020204" pitchFamily="34" charset="0"/>
              </a:rPr>
              <a:t>conseguir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mitad</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puerto</a:t>
            </a:r>
            <a:r>
              <a:rPr lang="en-US" sz="1200" dirty="0">
                <a:latin typeface="Arial" panose="020B0604020202020204" pitchFamily="34" charset="0"/>
                <a:cs typeface="Arial" panose="020B0604020202020204" pitchFamily="34" charset="0"/>
              </a:rPr>
              <a:t> L=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/2</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A8CB711F-38B0-4D6D-AA00-4F1AE800F0E5}"/>
              </a:ext>
            </a:extLst>
          </p:cNvPr>
          <p:cNvPicPr>
            <a:picLocks noChangeAspect="1"/>
          </p:cNvPicPr>
          <p:nvPr/>
        </p:nvPicPr>
        <p:blipFill>
          <a:blip r:embed="rId6"/>
          <a:stretch>
            <a:fillRect/>
          </a:stretch>
        </p:blipFill>
        <p:spPr>
          <a:xfrm>
            <a:off x="4236688" y="1587523"/>
            <a:ext cx="3627246" cy="2955534"/>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Width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576943" y="1457675"/>
            <a:ext cx="11199971" cy="4449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Imagen 25">
            <a:extLst>
              <a:ext uri="{FF2B5EF4-FFF2-40B4-BE49-F238E27FC236}">
                <a16:creationId xmlns:a16="http://schemas.microsoft.com/office/drawing/2014/main" id="{A287BF9A-B71D-43A4-AB79-6ACF86918A4B}"/>
              </a:ext>
            </a:extLst>
          </p:cNvPr>
          <p:cNvPicPr>
            <a:picLocks noChangeAspect="1"/>
          </p:cNvPicPr>
          <p:nvPr/>
        </p:nvPicPr>
        <p:blipFill>
          <a:blip r:embed="rId5"/>
          <a:stretch>
            <a:fillRect/>
          </a:stretch>
        </p:blipFill>
        <p:spPr>
          <a:xfrm>
            <a:off x="943148" y="1620530"/>
            <a:ext cx="3346519" cy="590562"/>
          </a:xfrm>
          <a:prstGeom prst="rect">
            <a:avLst/>
          </a:prstGeom>
        </p:spPr>
      </p:pic>
      <p:pic>
        <p:nvPicPr>
          <p:cNvPr id="28" name="Imagen 27">
            <a:extLst>
              <a:ext uri="{FF2B5EF4-FFF2-40B4-BE49-F238E27FC236}">
                <a16:creationId xmlns:a16="http://schemas.microsoft.com/office/drawing/2014/main" id="{07B3D1DB-26AC-45AA-AA99-EC483F3D96A7}"/>
              </a:ext>
            </a:extLst>
          </p:cNvPr>
          <p:cNvPicPr>
            <a:picLocks noChangeAspect="1"/>
          </p:cNvPicPr>
          <p:nvPr/>
        </p:nvPicPr>
        <p:blipFill>
          <a:blip r:embed="rId6"/>
          <a:stretch>
            <a:fillRect/>
          </a:stretch>
        </p:blipFill>
        <p:spPr>
          <a:xfrm>
            <a:off x="4658964" y="1712211"/>
            <a:ext cx="3346520" cy="590562"/>
          </a:xfrm>
          <a:prstGeom prst="rect">
            <a:avLst/>
          </a:prstGeom>
        </p:spPr>
      </p:pic>
      <p:pic>
        <p:nvPicPr>
          <p:cNvPr id="30" name="Imagen 29">
            <a:extLst>
              <a:ext uri="{FF2B5EF4-FFF2-40B4-BE49-F238E27FC236}">
                <a16:creationId xmlns:a16="http://schemas.microsoft.com/office/drawing/2014/main" id="{8B0864C3-C763-4044-981F-A323E9B5A1F1}"/>
              </a:ext>
            </a:extLst>
          </p:cNvPr>
          <p:cNvPicPr>
            <a:picLocks noChangeAspect="1"/>
          </p:cNvPicPr>
          <p:nvPr/>
        </p:nvPicPr>
        <p:blipFill>
          <a:blip r:embed="rId7"/>
          <a:stretch>
            <a:fillRect/>
          </a:stretch>
        </p:blipFill>
        <p:spPr>
          <a:xfrm>
            <a:off x="8207321" y="1657502"/>
            <a:ext cx="3346521" cy="590563"/>
          </a:xfrm>
          <a:prstGeom prst="rect">
            <a:avLst/>
          </a:prstGeom>
        </p:spPr>
      </p:pic>
      <p:pic>
        <p:nvPicPr>
          <p:cNvPr id="32" name="Imagen 31">
            <a:extLst>
              <a:ext uri="{FF2B5EF4-FFF2-40B4-BE49-F238E27FC236}">
                <a16:creationId xmlns:a16="http://schemas.microsoft.com/office/drawing/2014/main" id="{CE5533DA-C73A-40E6-94EA-373F8225901E}"/>
              </a:ext>
            </a:extLst>
          </p:cNvPr>
          <p:cNvPicPr>
            <a:picLocks noChangeAspect="1"/>
          </p:cNvPicPr>
          <p:nvPr/>
        </p:nvPicPr>
        <p:blipFill>
          <a:blip r:embed="rId8"/>
          <a:stretch>
            <a:fillRect/>
          </a:stretch>
        </p:blipFill>
        <p:spPr>
          <a:xfrm>
            <a:off x="994664" y="2759247"/>
            <a:ext cx="3310428" cy="589921"/>
          </a:xfrm>
          <a:prstGeom prst="rect">
            <a:avLst/>
          </a:prstGeom>
        </p:spPr>
      </p:pic>
      <p:pic>
        <p:nvPicPr>
          <p:cNvPr id="34" name="Imagen 33">
            <a:extLst>
              <a:ext uri="{FF2B5EF4-FFF2-40B4-BE49-F238E27FC236}">
                <a16:creationId xmlns:a16="http://schemas.microsoft.com/office/drawing/2014/main" id="{68B34144-A475-4361-8536-D6AD51574AD5}"/>
              </a:ext>
            </a:extLst>
          </p:cNvPr>
          <p:cNvPicPr>
            <a:picLocks noChangeAspect="1"/>
          </p:cNvPicPr>
          <p:nvPr/>
        </p:nvPicPr>
        <p:blipFill>
          <a:blip r:embed="rId9"/>
          <a:stretch>
            <a:fillRect/>
          </a:stretch>
        </p:blipFill>
        <p:spPr>
          <a:xfrm>
            <a:off x="4791614" y="2758606"/>
            <a:ext cx="3314028" cy="590562"/>
          </a:xfrm>
          <a:prstGeom prst="rect">
            <a:avLst/>
          </a:prstGeom>
        </p:spPr>
      </p:pic>
      <p:pic>
        <p:nvPicPr>
          <p:cNvPr id="36" name="Imagen 35">
            <a:extLst>
              <a:ext uri="{FF2B5EF4-FFF2-40B4-BE49-F238E27FC236}">
                <a16:creationId xmlns:a16="http://schemas.microsoft.com/office/drawing/2014/main" id="{6DECCC10-444C-4210-AA9E-9272BF608679}"/>
              </a:ext>
            </a:extLst>
          </p:cNvPr>
          <p:cNvPicPr>
            <a:picLocks noChangeAspect="1"/>
          </p:cNvPicPr>
          <p:nvPr/>
        </p:nvPicPr>
        <p:blipFill>
          <a:blip r:embed="rId10"/>
          <a:stretch>
            <a:fillRect/>
          </a:stretch>
        </p:blipFill>
        <p:spPr>
          <a:xfrm>
            <a:off x="8288161" y="2726218"/>
            <a:ext cx="3314027" cy="590562"/>
          </a:xfrm>
          <a:prstGeom prst="rect">
            <a:avLst/>
          </a:prstGeom>
        </p:spPr>
      </p:pic>
      <p:pic>
        <p:nvPicPr>
          <p:cNvPr id="38" name="Imagen 37">
            <a:extLst>
              <a:ext uri="{FF2B5EF4-FFF2-40B4-BE49-F238E27FC236}">
                <a16:creationId xmlns:a16="http://schemas.microsoft.com/office/drawing/2014/main" id="{C6DE62E0-585F-4147-80D5-F065B0AA0ADA}"/>
              </a:ext>
            </a:extLst>
          </p:cNvPr>
          <p:cNvPicPr>
            <a:picLocks noChangeAspect="1"/>
          </p:cNvPicPr>
          <p:nvPr/>
        </p:nvPicPr>
        <p:blipFill>
          <a:blip r:embed="rId11"/>
          <a:stretch>
            <a:fillRect/>
          </a:stretch>
        </p:blipFill>
        <p:spPr>
          <a:xfrm>
            <a:off x="1027996" y="3861023"/>
            <a:ext cx="3453685" cy="615449"/>
          </a:xfrm>
          <a:prstGeom prst="rect">
            <a:avLst/>
          </a:prstGeom>
        </p:spPr>
      </p:pic>
      <p:pic>
        <p:nvPicPr>
          <p:cNvPr id="40" name="Imagen 39">
            <a:extLst>
              <a:ext uri="{FF2B5EF4-FFF2-40B4-BE49-F238E27FC236}">
                <a16:creationId xmlns:a16="http://schemas.microsoft.com/office/drawing/2014/main" id="{1D93D7F5-44B6-4D3F-B0D5-2D26B2EF7A7A}"/>
              </a:ext>
            </a:extLst>
          </p:cNvPr>
          <p:cNvPicPr>
            <a:picLocks noChangeAspect="1"/>
          </p:cNvPicPr>
          <p:nvPr/>
        </p:nvPicPr>
        <p:blipFill>
          <a:blip r:embed="rId12"/>
          <a:stretch>
            <a:fillRect/>
          </a:stretch>
        </p:blipFill>
        <p:spPr>
          <a:xfrm>
            <a:off x="4967006" y="3873151"/>
            <a:ext cx="3151674" cy="561630"/>
          </a:xfrm>
          <a:prstGeom prst="rect">
            <a:avLst/>
          </a:prstGeom>
        </p:spPr>
      </p:pic>
      <p:pic>
        <p:nvPicPr>
          <p:cNvPr id="42" name="Imagen 41">
            <a:extLst>
              <a:ext uri="{FF2B5EF4-FFF2-40B4-BE49-F238E27FC236}">
                <a16:creationId xmlns:a16="http://schemas.microsoft.com/office/drawing/2014/main" id="{E567BDA2-E43D-4BB3-BF44-4699FF1DEDDC}"/>
              </a:ext>
            </a:extLst>
          </p:cNvPr>
          <p:cNvPicPr>
            <a:picLocks noChangeAspect="1"/>
          </p:cNvPicPr>
          <p:nvPr/>
        </p:nvPicPr>
        <p:blipFill>
          <a:blip r:embed="rId13"/>
          <a:stretch>
            <a:fillRect/>
          </a:stretch>
        </p:blipFill>
        <p:spPr>
          <a:xfrm>
            <a:off x="8493003" y="3770936"/>
            <a:ext cx="3060839" cy="550739"/>
          </a:xfrm>
          <a:prstGeom prst="rect">
            <a:avLst/>
          </a:prstGeom>
        </p:spPr>
      </p:pic>
      <p:pic>
        <p:nvPicPr>
          <p:cNvPr id="44" name="Imagen 43">
            <a:extLst>
              <a:ext uri="{FF2B5EF4-FFF2-40B4-BE49-F238E27FC236}">
                <a16:creationId xmlns:a16="http://schemas.microsoft.com/office/drawing/2014/main" id="{1FF4274E-C67A-4349-8758-B05C65F57214}"/>
              </a:ext>
            </a:extLst>
          </p:cNvPr>
          <p:cNvPicPr>
            <a:picLocks noChangeAspect="1"/>
          </p:cNvPicPr>
          <p:nvPr/>
        </p:nvPicPr>
        <p:blipFill>
          <a:blip r:embed="rId14"/>
          <a:stretch>
            <a:fillRect/>
          </a:stretch>
        </p:blipFill>
        <p:spPr>
          <a:xfrm>
            <a:off x="1092464" y="4848516"/>
            <a:ext cx="3324748" cy="598225"/>
          </a:xfrm>
          <a:prstGeom prst="rect">
            <a:avLst/>
          </a:prstGeom>
        </p:spPr>
      </p:pic>
      <p:pic>
        <p:nvPicPr>
          <p:cNvPr id="46" name="Imagen 45">
            <a:extLst>
              <a:ext uri="{FF2B5EF4-FFF2-40B4-BE49-F238E27FC236}">
                <a16:creationId xmlns:a16="http://schemas.microsoft.com/office/drawing/2014/main" id="{1551F907-B2CC-420E-B4CE-9D0A13D7BB2E}"/>
              </a:ext>
            </a:extLst>
          </p:cNvPr>
          <p:cNvPicPr>
            <a:picLocks noChangeAspect="1"/>
          </p:cNvPicPr>
          <p:nvPr/>
        </p:nvPicPr>
        <p:blipFill>
          <a:blip r:embed="rId15"/>
          <a:stretch>
            <a:fillRect/>
          </a:stretch>
        </p:blipFill>
        <p:spPr>
          <a:xfrm>
            <a:off x="5149991" y="4936784"/>
            <a:ext cx="2981325" cy="536432"/>
          </a:xfrm>
          <a:prstGeom prst="rect">
            <a:avLst/>
          </a:prstGeom>
        </p:spPr>
      </p:pic>
      <p:sp>
        <p:nvSpPr>
          <p:cNvPr id="47" name="CuadroTexto 46">
            <a:extLst>
              <a:ext uri="{FF2B5EF4-FFF2-40B4-BE49-F238E27FC236}">
                <a16:creationId xmlns:a16="http://schemas.microsoft.com/office/drawing/2014/main" id="{D85AF0E3-698F-4715-A16C-3590CD1B9838}"/>
              </a:ext>
            </a:extLst>
          </p:cNvPr>
          <p:cNvSpPr txBox="1"/>
          <p:nvPr/>
        </p:nvSpPr>
        <p:spPr>
          <a:xfrm>
            <a:off x="1157139" y="2360290"/>
            <a:ext cx="3346520" cy="307777"/>
          </a:xfrm>
          <a:prstGeom prst="rect">
            <a:avLst/>
          </a:prstGeom>
          <a:noFill/>
        </p:spPr>
        <p:txBody>
          <a:bodyPr wrap="square" rtlCol="0">
            <a:spAutoFit/>
          </a:bodyPr>
          <a:lstStyle/>
          <a:p>
            <a:r>
              <a:rPr lang="es-ES" sz="1400" dirty="0"/>
              <a:t>Gap= 0.6 </a:t>
            </a:r>
            <a:r>
              <a:rPr lang="es-ES" sz="1400" dirty="0" err="1"/>
              <a:t>um</a:t>
            </a:r>
            <a:r>
              <a:rPr lang="es-ES" sz="1400" dirty="0"/>
              <a:t>  </a:t>
            </a:r>
            <a:r>
              <a:rPr lang="es-ES" sz="1400" dirty="0" err="1"/>
              <a:t>Lpi</a:t>
            </a:r>
            <a:r>
              <a:rPr lang="es-ES" sz="1400" dirty="0"/>
              <a:t>= 94.02742605176876  µm</a:t>
            </a:r>
          </a:p>
        </p:txBody>
      </p:sp>
      <p:sp>
        <p:nvSpPr>
          <p:cNvPr id="50" name="CuadroTexto 49">
            <a:extLst>
              <a:ext uri="{FF2B5EF4-FFF2-40B4-BE49-F238E27FC236}">
                <a16:creationId xmlns:a16="http://schemas.microsoft.com/office/drawing/2014/main" id="{96F0B7B0-BE5F-4955-87A2-17E5A5569AA4}"/>
              </a:ext>
            </a:extLst>
          </p:cNvPr>
          <p:cNvSpPr txBox="1"/>
          <p:nvPr/>
        </p:nvSpPr>
        <p:spPr>
          <a:xfrm>
            <a:off x="4581311" y="2340037"/>
            <a:ext cx="3424173" cy="307777"/>
          </a:xfrm>
          <a:prstGeom prst="rect">
            <a:avLst/>
          </a:prstGeom>
          <a:noFill/>
        </p:spPr>
        <p:txBody>
          <a:bodyPr wrap="square" rtlCol="0">
            <a:spAutoFit/>
          </a:bodyPr>
          <a:lstStyle/>
          <a:p>
            <a:r>
              <a:rPr lang="es-ES" sz="1400" dirty="0"/>
              <a:t>Gap= 0.7 </a:t>
            </a:r>
            <a:r>
              <a:rPr lang="es-ES" sz="1400" dirty="0" err="1"/>
              <a:t>um</a:t>
            </a:r>
            <a:r>
              <a:rPr lang="es-ES" sz="1400" dirty="0"/>
              <a:t>  </a:t>
            </a:r>
            <a:r>
              <a:rPr lang="es-ES" sz="1400" dirty="0" err="1"/>
              <a:t>Lpi</a:t>
            </a:r>
            <a:r>
              <a:rPr lang="es-ES" sz="1400" dirty="0"/>
              <a:t>=  128.065673339184 µm</a:t>
            </a:r>
          </a:p>
        </p:txBody>
      </p:sp>
      <p:sp>
        <p:nvSpPr>
          <p:cNvPr id="51" name="CuadroTexto 50">
            <a:extLst>
              <a:ext uri="{FF2B5EF4-FFF2-40B4-BE49-F238E27FC236}">
                <a16:creationId xmlns:a16="http://schemas.microsoft.com/office/drawing/2014/main" id="{D8A5636A-59E8-44C8-8D33-EB4655C173E2}"/>
              </a:ext>
            </a:extLst>
          </p:cNvPr>
          <p:cNvSpPr txBox="1"/>
          <p:nvPr/>
        </p:nvSpPr>
        <p:spPr>
          <a:xfrm>
            <a:off x="8221362" y="2302773"/>
            <a:ext cx="3424173" cy="307777"/>
          </a:xfrm>
          <a:prstGeom prst="rect">
            <a:avLst/>
          </a:prstGeom>
          <a:noFill/>
        </p:spPr>
        <p:txBody>
          <a:bodyPr wrap="square" rtlCol="0">
            <a:spAutoFit/>
          </a:bodyPr>
          <a:lstStyle/>
          <a:p>
            <a:r>
              <a:rPr lang="es-ES" sz="1400" dirty="0"/>
              <a:t>Gap= 0.8 </a:t>
            </a:r>
            <a:r>
              <a:rPr lang="es-ES" sz="1400" dirty="0" err="1"/>
              <a:t>um</a:t>
            </a:r>
            <a:r>
              <a:rPr lang="es-ES" sz="1400" dirty="0"/>
              <a:t>  </a:t>
            </a:r>
            <a:r>
              <a:rPr lang="es-ES" sz="1400" dirty="0" err="1"/>
              <a:t>Lpi</a:t>
            </a:r>
            <a:r>
              <a:rPr lang="es-ES" sz="1400" dirty="0"/>
              <a:t>=  173.96389977139225 µm</a:t>
            </a:r>
          </a:p>
        </p:txBody>
      </p:sp>
      <p:sp>
        <p:nvSpPr>
          <p:cNvPr id="52" name="CuadroTexto 51">
            <a:extLst>
              <a:ext uri="{FF2B5EF4-FFF2-40B4-BE49-F238E27FC236}">
                <a16:creationId xmlns:a16="http://schemas.microsoft.com/office/drawing/2014/main" id="{5D8A6278-D563-4E6A-AD75-E9BB61C030B1}"/>
              </a:ext>
            </a:extLst>
          </p:cNvPr>
          <p:cNvSpPr txBox="1"/>
          <p:nvPr/>
        </p:nvSpPr>
        <p:spPr>
          <a:xfrm>
            <a:off x="1167115" y="3466436"/>
            <a:ext cx="3424173" cy="307777"/>
          </a:xfrm>
          <a:prstGeom prst="rect">
            <a:avLst/>
          </a:prstGeom>
          <a:noFill/>
        </p:spPr>
        <p:txBody>
          <a:bodyPr wrap="square" rtlCol="0">
            <a:spAutoFit/>
          </a:bodyPr>
          <a:lstStyle/>
          <a:p>
            <a:r>
              <a:rPr lang="es-ES" sz="1400" dirty="0"/>
              <a:t>Gap= 0.9 </a:t>
            </a:r>
            <a:r>
              <a:rPr lang="es-ES" sz="1400" dirty="0" err="1"/>
              <a:t>um</a:t>
            </a:r>
            <a:r>
              <a:rPr lang="es-ES" sz="1400" dirty="0"/>
              <a:t>  </a:t>
            </a:r>
            <a:r>
              <a:rPr lang="es-ES" sz="1400" dirty="0" err="1"/>
              <a:t>Lpi</a:t>
            </a:r>
            <a:r>
              <a:rPr lang="es-ES" sz="1400" dirty="0"/>
              <a:t>=  235.77407047787594 µm</a:t>
            </a:r>
          </a:p>
        </p:txBody>
      </p:sp>
      <p:sp>
        <p:nvSpPr>
          <p:cNvPr id="53" name="CuadroTexto 52">
            <a:extLst>
              <a:ext uri="{FF2B5EF4-FFF2-40B4-BE49-F238E27FC236}">
                <a16:creationId xmlns:a16="http://schemas.microsoft.com/office/drawing/2014/main" id="{5EDD2A61-6C4D-458E-BACE-A5826C0B02D6}"/>
              </a:ext>
            </a:extLst>
          </p:cNvPr>
          <p:cNvSpPr txBox="1"/>
          <p:nvPr/>
        </p:nvSpPr>
        <p:spPr>
          <a:xfrm>
            <a:off x="4928568" y="3464836"/>
            <a:ext cx="3424173" cy="307777"/>
          </a:xfrm>
          <a:prstGeom prst="rect">
            <a:avLst/>
          </a:prstGeom>
          <a:noFill/>
        </p:spPr>
        <p:txBody>
          <a:bodyPr wrap="square" rtlCol="0">
            <a:spAutoFit/>
          </a:bodyPr>
          <a:lstStyle/>
          <a:p>
            <a:r>
              <a:rPr lang="es-ES" sz="1400" dirty="0"/>
              <a:t>Gap= 1 </a:t>
            </a:r>
            <a:r>
              <a:rPr lang="es-ES" sz="1400" dirty="0" err="1"/>
              <a:t>um</a:t>
            </a:r>
            <a:r>
              <a:rPr lang="es-ES" sz="1400" dirty="0"/>
              <a:t>  </a:t>
            </a:r>
            <a:r>
              <a:rPr lang="es-ES" sz="1400" dirty="0" err="1"/>
              <a:t>Lpi</a:t>
            </a:r>
            <a:r>
              <a:rPr lang="es-ES" sz="1400" dirty="0"/>
              <a:t>=  318.88415207666543 µm</a:t>
            </a:r>
          </a:p>
        </p:txBody>
      </p:sp>
      <p:sp>
        <p:nvSpPr>
          <p:cNvPr id="54" name="CuadroTexto 53">
            <a:extLst>
              <a:ext uri="{FF2B5EF4-FFF2-40B4-BE49-F238E27FC236}">
                <a16:creationId xmlns:a16="http://schemas.microsoft.com/office/drawing/2014/main" id="{5997FB38-6FFC-4E9F-BAF3-8963FC82BD7C}"/>
              </a:ext>
            </a:extLst>
          </p:cNvPr>
          <p:cNvSpPr txBox="1"/>
          <p:nvPr/>
        </p:nvSpPr>
        <p:spPr>
          <a:xfrm>
            <a:off x="8284603" y="3418162"/>
            <a:ext cx="3424173" cy="307777"/>
          </a:xfrm>
          <a:prstGeom prst="rect">
            <a:avLst/>
          </a:prstGeom>
          <a:noFill/>
        </p:spPr>
        <p:txBody>
          <a:bodyPr wrap="square" rtlCol="0">
            <a:spAutoFit/>
          </a:bodyPr>
          <a:lstStyle/>
          <a:p>
            <a:r>
              <a:rPr lang="es-ES" sz="1400" dirty="0"/>
              <a:t>Gap= 1.1 </a:t>
            </a:r>
            <a:r>
              <a:rPr lang="es-ES" sz="1400" dirty="0" err="1"/>
              <a:t>um</a:t>
            </a:r>
            <a:r>
              <a:rPr lang="es-ES" sz="1400" dirty="0"/>
              <a:t>  </a:t>
            </a:r>
            <a:r>
              <a:rPr lang="es-ES" sz="1400" dirty="0" err="1"/>
              <a:t>Lpi</a:t>
            </a:r>
            <a:r>
              <a:rPr lang="es-ES" sz="1400" dirty="0"/>
              <a:t>=  430.54761007638376 µm</a:t>
            </a:r>
          </a:p>
        </p:txBody>
      </p:sp>
      <p:sp>
        <p:nvSpPr>
          <p:cNvPr id="55" name="CuadroTexto 54">
            <a:extLst>
              <a:ext uri="{FF2B5EF4-FFF2-40B4-BE49-F238E27FC236}">
                <a16:creationId xmlns:a16="http://schemas.microsoft.com/office/drawing/2014/main" id="{C0C4CAFC-127D-4A82-BFB3-B48697EBEB77}"/>
              </a:ext>
            </a:extLst>
          </p:cNvPr>
          <p:cNvSpPr txBox="1"/>
          <p:nvPr/>
        </p:nvSpPr>
        <p:spPr>
          <a:xfrm>
            <a:off x="1180749" y="4506750"/>
            <a:ext cx="3424173" cy="307777"/>
          </a:xfrm>
          <a:prstGeom prst="rect">
            <a:avLst/>
          </a:prstGeom>
          <a:noFill/>
        </p:spPr>
        <p:txBody>
          <a:bodyPr wrap="square" rtlCol="0">
            <a:spAutoFit/>
          </a:bodyPr>
          <a:lstStyle/>
          <a:p>
            <a:r>
              <a:rPr lang="es-ES" sz="1400" dirty="0"/>
              <a:t>Gap= 1.2 </a:t>
            </a:r>
            <a:r>
              <a:rPr lang="es-ES" sz="1400" dirty="0" err="1"/>
              <a:t>um</a:t>
            </a:r>
            <a:r>
              <a:rPr lang="es-ES" sz="1400" dirty="0"/>
              <a:t>  </a:t>
            </a:r>
            <a:r>
              <a:rPr lang="es-ES" sz="1400" dirty="0" err="1"/>
              <a:t>Lpi</a:t>
            </a:r>
            <a:r>
              <a:rPr lang="es-ES" sz="1400" dirty="0"/>
              <a:t>=  580.4293623072576 µm</a:t>
            </a:r>
          </a:p>
        </p:txBody>
      </p:sp>
      <p:sp>
        <p:nvSpPr>
          <p:cNvPr id="56" name="CuadroTexto 55">
            <a:extLst>
              <a:ext uri="{FF2B5EF4-FFF2-40B4-BE49-F238E27FC236}">
                <a16:creationId xmlns:a16="http://schemas.microsoft.com/office/drawing/2014/main" id="{8F566286-7807-4457-B12B-27A9AE34A862}"/>
              </a:ext>
            </a:extLst>
          </p:cNvPr>
          <p:cNvSpPr txBox="1"/>
          <p:nvPr/>
        </p:nvSpPr>
        <p:spPr>
          <a:xfrm>
            <a:off x="4991273" y="4502479"/>
            <a:ext cx="3424173" cy="307777"/>
          </a:xfrm>
          <a:prstGeom prst="rect">
            <a:avLst/>
          </a:prstGeom>
          <a:noFill/>
        </p:spPr>
        <p:txBody>
          <a:bodyPr wrap="square" rtlCol="0">
            <a:spAutoFit/>
          </a:bodyPr>
          <a:lstStyle/>
          <a:p>
            <a:r>
              <a:rPr lang="es-ES" sz="1400" dirty="0"/>
              <a:t>Gap= 1.3 </a:t>
            </a:r>
            <a:r>
              <a:rPr lang="es-ES" sz="1400" dirty="0" err="1"/>
              <a:t>um</a:t>
            </a:r>
            <a:r>
              <a:rPr lang="es-ES" sz="1400" dirty="0"/>
              <a:t>  </a:t>
            </a:r>
            <a:r>
              <a:rPr lang="es-ES" sz="1400" dirty="0" err="1"/>
              <a:t>Lpi</a:t>
            </a:r>
            <a:r>
              <a:rPr lang="es-ES" sz="1400" dirty="0"/>
              <a:t>=  781.3901391727065 µm</a:t>
            </a:r>
          </a:p>
        </p:txBody>
      </p:sp>
      <p:sp>
        <p:nvSpPr>
          <p:cNvPr id="57" name="CuadroTexto 56">
            <a:extLst>
              <a:ext uri="{FF2B5EF4-FFF2-40B4-BE49-F238E27FC236}">
                <a16:creationId xmlns:a16="http://schemas.microsoft.com/office/drawing/2014/main" id="{E94BEE07-A819-4272-B015-1656B7169055}"/>
              </a:ext>
            </a:extLst>
          </p:cNvPr>
          <p:cNvSpPr txBox="1"/>
          <p:nvPr/>
        </p:nvSpPr>
        <p:spPr>
          <a:xfrm>
            <a:off x="8352741" y="4500870"/>
            <a:ext cx="3424173" cy="307777"/>
          </a:xfrm>
          <a:prstGeom prst="rect">
            <a:avLst/>
          </a:prstGeom>
          <a:noFill/>
        </p:spPr>
        <p:txBody>
          <a:bodyPr wrap="square" rtlCol="0">
            <a:spAutoFit/>
          </a:bodyPr>
          <a:lstStyle/>
          <a:p>
            <a:r>
              <a:rPr lang="es-ES" sz="1400" dirty="0"/>
              <a:t>Gap= 1.4 </a:t>
            </a:r>
            <a:r>
              <a:rPr lang="es-ES" sz="1400" dirty="0" err="1"/>
              <a:t>um</a:t>
            </a:r>
            <a:r>
              <a:rPr lang="es-ES" sz="1400" dirty="0"/>
              <a:t>  </a:t>
            </a:r>
            <a:r>
              <a:rPr lang="es-ES" sz="1400" dirty="0" err="1"/>
              <a:t>Lpi</a:t>
            </a:r>
            <a:r>
              <a:rPr lang="es-ES" sz="1400" dirty="0"/>
              <a:t>=  1050.478684859016 µm</a:t>
            </a:r>
          </a:p>
        </p:txBody>
      </p:sp>
      <p:sp>
        <p:nvSpPr>
          <p:cNvPr id="58" name="CuadroTexto 57">
            <a:extLst>
              <a:ext uri="{FF2B5EF4-FFF2-40B4-BE49-F238E27FC236}">
                <a16:creationId xmlns:a16="http://schemas.microsoft.com/office/drawing/2014/main" id="{A566618E-3B5C-4FD6-B062-2DD297D2B4FF}"/>
              </a:ext>
            </a:extLst>
          </p:cNvPr>
          <p:cNvSpPr txBox="1"/>
          <p:nvPr/>
        </p:nvSpPr>
        <p:spPr>
          <a:xfrm>
            <a:off x="1234791" y="5395453"/>
            <a:ext cx="3424173" cy="307777"/>
          </a:xfrm>
          <a:prstGeom prst="rect">
            <a:avLst/>
          </a:prstGeom>
          <a:noFill/>
        </p:spPr>
        <p:txBody>
          <a:bodyPr wrap="square" rtlCol="0">
            <a:spAutoFit/>
          </a:bodyPr>
          <a:lstStyle/>
          <a:p>
            <a:r>
              <a:rPr lang="es-ES" sz="1400" dirty="0"/>
              <a:t>Gap= 1.5 </a:t>
            </a:r>
            <a:r>
              <a:rPr lang="es-ES" sz="1400" dirty="0" err="1"/>
              <a:t>um</a:t>
            </a:r>
            <a:r>
              <a:rPr lang="es-ES" sz="1400" dirty="0"/>
              <a:t>  </a:t>
            </a:r>
            <a:r>
              <a:rPr lang="es-ES" sz="1400" dirty="0" err="1"/>
              <a:t>Lpi</a:t>
            </a:r>
            <a:r>
              <a:rPr lang="es-ES" sz="1400" dirty="0"/>
              <a:t>=  1410.6607123685528 µm</a:t>
            </a:r>
          </a:p>
        </p:txBody>
      </p:sp>
      <p:sp>
        <p:nvSpPr>
          <p:cNvPr id="59" name="CuadroTexto 58">
            <a:extLst>
              <a:ext uri="{FF2B5EF4-FFF2-40B4-BE49-F238E27FC236}">
                <a16:creationId xmlns:a16="http://schemas.microsoft.com/office/drawing/2014/main" id="{0A4BDF8D-604B-4C83-880B-6A6AC06B8B98}"/>
              </a:ext>
            </a:extLst>
          </p:cNvPr>
          <p:cNvSpPr txBox="1"/>
          <p:nvPr/>
        </p:nvSpPr>
        <p:spPr>
          <a:xfrm>
            <a:off x="5087239" y="5406947"/>
            <a:ext cx="3424173" cy="307777"/>
          </a:xfrm>
          <a:prstGeom prst="rect">
            <a:avLst/>
          </a:prstGeom>
          <a:noFill/>
        </p:spPr>
        <p:txBody>
          <a:bodyPr wrap="square" rtlCol="0">
            <a:spAutoFit/>
          </a:bodyPr>
          <a:lstStyle/>
          <a:p>
            <a:r>
              <a:rPr lang="es-ES" sz="1400" dirty="0"/>
              <a:t>Gap= 1.6 </a:t>
            </a:r>
            <a:r>
              <a:rPr lang="es-ES" sz="1400" dirty="0" err="1"/>
              <a:t>um</a:t>
            </a:r>
            <a:r>
              <a:rPr lang="es-ES" sz="1400" dirty="0"/>
              <a:t>  </a:t>
            </a:r>
            <a:r>
              <a:rPr lang="es-ES" sz="1400" dirty="0" err="1"/>
              <a:t>Lpi</a:t>
            </a:r>
            <a:r>
              <a:rPr lang="es-ES" sz="1400" dirty="0"/>
              <a:t>=  1892.4674124101916 µm</a:t>
            </a:r>
          </a:p>
        </p:txBody>
      </p:sp>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E9286C7C-2D83-4FB4-ACFB-3511F42CB4D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69B0F8DE-DF38-4036-A7DE-1094677A27DD}"/>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6" name="CuadroTexto 5">
            <a:extLst>
              <a:ext uri="{FF2B5EF4-FFF2-40B4-BE49-F238E27FC236}">
                <a16:creationId xmlns:a16="http://schemas.microsoft.com/office/drawing/2014/main" id="{0BA00740-5654-401D-A2CB-2A129F2C6786}"/>
              </a:ext>
            </a:extLst>
          </p:cNvPr>
          <p:cNvSpPr txBox="1"/>
          <p:nvPr/>
        </p:nvSpPr>
        <p:spPr>
          <a:xfrm>
            <a:off x="496014" y="533400"/>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1243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281567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a:t>
            </a:r>
            <a:r>
              <a:rPr lang="en-US" sz="2500"/>
              <a:t>outcome #5 </a:t>
            </a:r>
            <a:r>
              <a:rPr lang="en-US" sz="2500" dirty="0"/>
              <a:t>–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17</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830</TotalTime>
  <Words>1088</Words>
  <Application>Microsoft Office PowerPoint</Application>
  <PresentationFormat>Panorámica</PresentationFormat>
  <Paragraphs>210</Paragraphs>
  <Slides>17</Slides>
  <Notes>11</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17</vt:i4>
      </vt:variant>
    </vt:vector>
  </HeadingPairs>
  <TitlesOfParts>
    <vt:vector size="24" baseType="lpstr">
      <vt:lpstr>Aptos</vt:lpstr>
      <vt:lpstr>Arial</vt:lpstr>
      <vt:lpstr>Calibri</vt:lpstr>
      <vt:lpstr>Cambria Math</vt:lpstr>
      <vt:lpstr>Lucida Sans</vt:lpstr>
      <vt:lpstr>Times New Roman</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#2 – 2x2 Directional Coupler Width 0.6 - 1.6 µm (step 0.1 µm) – Wavelength 1.55 µm </vt:lpstr>
      <vt:lpstr>Presentación de PowerPoint</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 – 1x4 Multimode Interference Coupler  Wavelength 1.55 µm, wMMI = ?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15</cp:revision>
  <dcterms:created xsi:type="dcterms:W3CDTF">2025-01-27T02:46:57Z</dcterms:created>
  <dcterms:modified xsi:type="dcterms:W3CDTF">2026-03-10T12:40:09Z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