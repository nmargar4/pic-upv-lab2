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1"/>
  </p:notesMasterIdLst>
  <p:handoutMasterIdLst>
    <p:handoutMasterId r:id="rId22"/>
  </p:handoutMasterIdLst>
  <p:sldIdLst>
    <p:sldId id="256" r:id="rId2"/>
    <p:sldId id="289" r:id="rId3"/>
    <p:sldId id="295" r:id="rId4"/>
    <p:sldId id="302" r:id="rId5"/>
    <p:sldId id="303" r:id="rId6"/>
    <p:sldId id="304" r:id="rId7"/>
    <p:sldId id="291" r:id="rId8"/>
    <p:sldId id="296" r:id="rId9"/>
    <p:sldId id="294" r:id="rId10"/>
    <p:sldId id="299" r:id="rId11"/>
    <p:sldId id="300" r:id="rId12"/>
    <p:sldId id="301" r:id="rId13"/>
    <p:sldId id="305" r:id="rId14"/>
    <p:sldId id="306" r:id="rId15"/>
    <p:sldId id="297" r:id="rId16"/>
    <p:sldId id="290" r:id="rId17"/>
    <p:sldId id="292" r:id="rId18"/>
    <p:sldId id="298" r:id="rId19"/>
    <p:sldId id="288" r:id="rId20"/>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p:scale>
          <a:sx n="118" d="100"/>
          <a:sy n="118" d="100"/>
        </p:scale>
        <p:origin x="-1644" y="-12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11/03/2026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11/03/2026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5345300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17403998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3" Type="http://schemas.openxmlformats.org/officeDocument/2006/relationships/image" Target="../media/image3.pn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4" Type="http://schemas.openxmlformats.org/officeDocument/2006/relationships/image" Target="../media/image4.svg"/><Relationship Id="rId9" Type="http://schemas.openxmlformats.org/officeDocument/2006/relationships/image" Target="../media/image13.png"/><Relationship Id="rId1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Student:Nadia</a:t>
            </a:r>
            <a:r>
              <a:rPr lang="es-ES" spc="165" dirty="0">
                <a:latin typeface="Arial"/>
                <a:cs typeface="Arial"/>
              </a:rPr>
              <a:t> Martí García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Observamos</a:t>
            </a:r>
            <a:r>
              <a:rPr lang="en-US" sz="1200" dirty="0">
                <a:latin typeface="Arial" panose="020B0604020202020204" pitchFamily="34" charset="0"/>
                <a:cs typeface="Arial" panose="020B0604020202020204" pitchFamily="34" charset="0"/>
              </a:rPr>
              <a:t> que para </a:t>
            </a:r>
            <a:r>
              <a:rPr lang="en-US" sz="1200" dirty="0" err="1">
                <a:latin typeface="Arial" panose="020B0604020202020204" pitchFamily="34" charset="0"/>
                <a:cs typeface="Arial" panose="020B0604020202020204" pitchFamily="34" charset="0"/>
              </a:rPr>
              <a:t>lograr</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transferencia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total (100%) a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superior, se ha de </a:t>
            </a:r>
            <a:r>
              <a:rPr lang="en-US" sz="1200" dirty="0" err="1">
                <a:latin typeface="Arial" panose="020B0604020202020204" pitchFamily="34" charset="0"/>
                <a:cs typeface="Arial" panose="020B0604020202020204" pitchFamily="34" charset="0"/>
              </a:rPr>
              <a:t>cumplir</a:t>
            </a:r>
            <a:r>
              <a:rPr lang="en-US" sz="1200" dirty="0">
                <a:latin typeface="Arial" panose="020B0604020202020204" pitchFamily="34" charset="0"/>
                <a:cs typeface="Arial" panose="020B0604020202020204" pitchFamily="34" charset="0"/>
              </a:rPr>
              <a:t> que L =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conseguir</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distribucion</a:t>
            </a:r>
            <a:r>
              <a:rPr lang="en-US" sz="1200" dirty="0">
                <a:latin typeface="Arial" panose="020B0604020202020204" pitchFamily="34" charset="0"/>
                <a:cs typeface="Arial" panose="020B0604020202020204" pitchFamily="34" charset="0"/>
              </a:rPr>
              <a:t> de 50/50, </a:t>
            </a:r>
            <a:r>
              <a:rPr lang="en-US" sz="1200" dirty="0" err="1">
                <a:latin typeface="Arial" panose="020B0604020202020204" pitchFamily="34" charset="0"/>
                <a:cs typeface="Arial" panose="020B0604020202020204" pitchFamily="34" charset="0"/>
              </a:rPr>
              <a:t>hacer</a:t>
            </a:r>
            <a:r>
              <a:rPr lang="en-US" sz="1200" dirty="0">
                <a:latin typeface="Arial" panose="020B0604020202020204" pitchFamily="34" charset="0"/>
                <a:cs typeface="Arial" panose="020B0604020202020204" pitchFamily="34" charset="0"/>
              </a:rPr>
              <a:t> un divisor de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equilibrado</a:t>
            </a:r>
            <a:r>
              <a:rPr lang="en-US" sz="1200" dirty="0">
                <a:latin typeface="Arial" panose="020B0604020202020204" pitchFamily="34" charset="0"/>
                <a:cs typeface="Arial" panose="020B0604020202020204" pitchFamily="34" charset="0"/>
              </a:rPr>
              <a:t>, la longitude ha de ser la </a:t>
            </a:r>
            <a:r>
              <a:rPr lang="en-US" sz="1200" dirty="0" err="1">
                <a:latin typeface="Arial" panose="020B0604020202020204" pitchFamily="34" charset="0"/>
                <a:cs typeface="Arial" panose="020B0604020202020204" pitchFamily="34" charset="0"/>
              </a:rPr>
              <a:t>mitad</a:t>
            </a:r>
            <a:r>
              <a:rPr lang="en-US" sz="1200" dirty="0">
                <a:latin typeface="Arial" panose="020B0604020202020204" pitchFamily="34" charset="0"/>
                <a:cs typeface="Arial" panose="020B0604020202020204" pitchFamily="34" charset="0"/>
              </a:rPr>
              <a:t> L=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/2</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A8CB711F-38B0-4D6D-AA00-4F1AE800F0E5}"/>
              </a:ext>
            </a:extLst>
          </p:cNvPr>
          <p:cNvPicPr>
            <a:picLocks noChangeAspect="1"/>
          </p:cNvPicPr>
          <p:nvPr/>
        </p:nvPicPr>
        <p:blipFill>
          <a:blip r:embed="rId6"/>
          <a:stretch>
            <a:fillRect/>
          </a:stretch>
        </p:blipFill>
        <p:spPr>
          <a:xfrm>
            <a:off x="4236688" y="1587523"/>
            <a:ext cx="3627246" cy="2955534"/>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576943" y="1457675"/>
            <a:ext cx="11199971" cy="4449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Imagen 25">
            <a:extLst>
              <a:ext uri="{FF2B5EF4-FFF2-40B4-BE49-F238E27FC236}">
                <a16:creationId xmlns:a16="http://schemas.microsoft.com/office/drawing/2014/main" id="{A287BF9A-B71D-43A4-AB79-6ACF86918A4B}"/>
              </a:ext>
            </a:extLst>
          </p:cNvPr>
          <p:cNvPicPr>
            <a:picLocks noChangeAspect="1"/>
          </p:cNvPicPr>
          <p:nvPr/>
        </p:nvPicPr>
        <p:blipFill>
          <a:blip r:embed="rId5"/>
          <a:stretch>
            <a:fillRect/>
          </a:stretch>
        </p:blipFill>
        <p:spPr>
          <a:xfrm>
            <a:off x="943148" y="1620530"/>
            <a:ext cx="3346519" cy="590562"/>
          </a:xfrm>
          <a:prstGeom prst="rect">
            <a:avLst/>
          </a:prstGeom>
        </p:spPr>
      </p:pic>
      <p:pic>
        <p:nvPicPr>
          <p:cNvPr id="28" name="Imagen 27">
            <a:extLst>
              <a:ext uri="{FF2B5EF4-FFF2-40B4-BE49-F238E27FC236}">
                <a16:creationId xmlns:a16="http://schemas.microsoft.com/office/drawing/2014/main" id="{07B3D1DB-26AC-45AA-AA99-EC483F3D96A7}"/>
              </a:ext>
            </a:extLst>
          </p:cNvPr>
          <p:cNvPicPr>
            <a:picLocks noChangeAspect="1"/>
          </p:cNvPicPr>
          <p:nvPr/>
        </p:nvPicPr>
        <p:blipFill>
          <a:blip r:embed="rId6"/>
          <a:stretch>
            <a:fillRect/>
          </a:stretch>
        </p:blipFill>
        <p:spPr>
          <a:xfrm>
            <a:off x="4658964" y="1712211"/>
            <a:ext cx="3346520" cy="590562"/>
          </a:xfrm>
          <a:prstGeom prst="rect">
            <a:avLst/>
          </a:prstGeom>
        </p:spPr>
      </p:pic>
      <p:pic>
        <p:nvPicPr>
          <p:cNvPr id="30" name="Imagen 29">
            <a:extLst>
              <a:ext uri="{FF2B5EF4-FFF2-40B4-BE49-F238E27FC236}">
                <a16:creationId xmlns:a16="http://schemas.microsoft.com/office/drawing/2014/main" id="{8B0864C3-C763-4044-981F-A323E9B5A1F1}"/>
              </a:ext>
            </a:extLst>
          </p:cNvPr>
          <p:cNvPicPr>
            <a:picLocks noChangeAspect="1"/>
          </p:cNvPicPr>
          <p:nvPr/>
        </p:nvPicPr>
        <p:blipFill>
          <a:blip r:embed="rId7"/>
          <a:stretch>
            <a:fillRect/>
          </a:stretch>
        </p:blipFill>
        <p:spPr>
          <a:xfrm>
            <a:off x="8207321" y="1657502"/>
            <a:ext cx="3346521" cy="590563"/>
          </a:xfrm>
          <a:prstGeom prst="rect">
            <a:avLst/>
          </a:prstGeom>
        </p:spPr>
      </p:pic>
      <p:pic>
        <p:nvPicPr>
          <p:cNvPr id="32" name="Imagen 31">
            <a:extLst>
              <a:ext uri="{FF2B5EF4-FFF2-40B4-BE49-F238E27FC236}">
                <a16:creationId xmlns:a16="http://schemas.microsoft.com/office/drawing/2014/main" id="{CE5533DA-C73A-40E6-94EA-373F8225901E}"/>
              </a:ext>
            </a:extLst>
          </p:cNvPr>
          <p:cNvPicPr>
            <a:picLocks noChangeAspect="1"/>
          </p:cNvPicPr>
          <p:nvPr/>
        </p:nvPicPr>
        <p:blipFill>
          <a:blip r:embed="rId8"/>
          <a:stretch>
            <a:fillRect/>
          </a:stretch>
        </p:blipFill>
        <p:spPr>
          <a:xfrm>
            <a:off x="994664" y="2759247"/>
            <a:ext cx="3310428" cy="589921"/>
          </a:xfrm>
          <a:prstGeom prst="rect">
            <a:avLst/>
          </a:prstGeom>
        </p:spPr>
      </p:pic>
      <p:pic>
        <p:nvPicPr>
          <p:cNvPr id="34" name="Imagen 33">
            <a:extLst>
              <a:ext uri="{FF2B5EF4-FFF2-40B4-BE49-F238E27FC236}">
                <a16:creationId xmlns:a16="http://schemas.microsoft.com/office/drawing/2014/main" id="{68B34144-A475-4361-8536-D6AD51574AD5}"/>
              </a:ext>
            </a:extLst>
          </p:cNvPr>
          <p:cNvPicPr>
            <a:picLocks noChangeAspect="1"/>
          </p:cNvPicPr>
          <p:nvPr/>
        </p:nvPicPr>
        <p:blipFill>
          <a:blip r:embed="rId9"/>
          <a:stretch>
            <a:fillRect/>
          </a:stretch>
        </p:blipFill>
        <p:spPr>
          <a:xfrm>
            <a:off x="4791614" y="2758606"/>
            <a:ext cx="3314028" cy="590562"/>
          </a:xfrm>
          <a:prstGeom prst="rect">
            <a:avLst/>
          </a:prstGeom>
        </p:spPr>
      </p:pic>
      <p:pic>
        <p:nvPicPr>
          <p:cNvPr id="36" name="Imagen 35">
            <a:extLst>
              <a:ext uri="{FF2B5EF4-FFF2-40B4-BE49-F238E27FC236}">
                <a16:creationId xmlns:a16="http://schemas.microsoft.com/office/drawing/2014/main" id="{6DECCC10-444C-4210-AA9E-9272BF608679}"/>
              </a:ext>
            </a:extLst>
          </p:cNvPr>
          <p:cNvPicPr>
            <a:picLocks noChangeAspect="1"/>
          </p:cNvPicPr>
          <p:nvPr/>
        </p:nvPicPr>
        <p:blipFill>
          <a:blip r:embed="rId10"/>
          <a:stretch>
            <a:fillRect/>
          </a:stretch>
        </p:blipFill>
        <p:spPr>
          <a:xfrm>
            <a:off x="8288161" y="2726218"/>
            <a:ext cx="3314027" cy="590562"/>
          </a:xfrm>
          <a:prstGeom prst="rect">
            <a:avLst/>
          </a:prstGeom>
        </p:spPr>
      </p:pic>
      <p:pic>
        <p:nvPicPr>
          <p:cNvPr id="38" name="Imagen 37">
            <a:extLst>
              <a:ext uri="{FF2B5EF4-FFF2-40B4-BE49-F238E27FC236}">
                <a16:creationId xmlns:a16="http://schemas.microsoft.com/office/drawing/2014/main" id="{C6DE62E0-585F-4147-80D5-F065B0AA0ADA}"/>
              </a:ext>
            </a:extLst>
          </p:cNvPr>
          <p:cNvPicPr>
            <a:picLocks noChangeAspect="1"/>
          </p:cNvPicPr>
          <p:nvPr/>
        </p:nvPicPr>
        <p:blipFill>
          <a:blip r:embed="rId11"/>
          <a:stretch>
            <a:fillRect/>
          </a:stretch>
        </p:blipFill>
        <p:spPr>
          <a:xfrm>
            <a:off x="1027996" y="3861023"/>
            <a:ext cx="3453685" cy="615449"/>
          </a:xfrm>
          <a:prstGeom prst="rect">
            <a:avLst/>
          </a:prstGeom>
        </p:spPr>
      </p:pic>
      <p:pic>
        <p:nvPicPr>
          <p:cNvPr id="40" name="Imagen 39">
            <a:extLst>
              <a:ext uri="{FF2B5EF4-FFF2-40B4-BE49-F238E27FC236}">
                <a16:creationId xmlns:a16="http://schemas.microsoft.com/office/drawing/2014/main" id="{1D93D7F5-44B6-4D3F-B0D5-2D26B2EF7A7A}"/>
              </a:ext>
            </a:extLst>
          </p:cNvPr>
          <p:cNvPicPr>
            <a:picLocks noChangeAspect="1"/>
          </p:cNvPicPr>
          <p:nvPr/>
        </p:nvPicPr>
        <p:blipFill>
          <a:blip r:embed="rId12"/>
          <a:stretch>
            <a:fillRect/>
          </a:stretch>
        </p:blipFill>
        <p:spPr>
          <a:xfrm>
            <a:off x="4967006" y="3873151"/>
            <a:ext cx="3151674" cy="561630"/>
          </a:xfrm>
          <a:prstGeom prst="rect">
            <a:avLst/>
          </a:prstGeom>
        </p:spPr>
      </p:pic>
      <p:pic>
        <p:nvPicPr>
          <p:cNvPr id="42" name="Imagen 41">
            <a:extLst>
              <a:ext uri="{FF2B5EF4-FFF2-40B4-BE49-F238E27FC236}">
                <a16:creationId xmlns:a16="http://schemas.microsoft.com/office/drawing/2014/main" id="{E567BDA2-E43D-4BB3-BF44-4699FF1DEDDC}"/>
              </a:ext>
            </a:extLst>
          </p:cNvPr>
          <p:cNvPicPr>
            <a:picLocks noChangeAspect="1"/>
          </p:cNvPicPr>
          <p:nvPr/>
        </p:nvPicPr>
        <p:blipFill>
          <a:blip r:embed="rId13"/>
          <a:stretch>
            <a:fillRect/>
          </a:stretch>
        </p:blipFill>
        <p:spPr>
          <a:xfrm>
            <a:off x="8493003" y="3770936"/>
            <a:ext cx="3060839" cy="550739"/>
          </a:xfrm>
          <a:prstGeom prst="rect">
            <a:avLst/>
          </a:prstGeom>
        </p:spPr>
      </p:pic>
      <p:pic>
        <p:nvPicPr>
          <p:cNvPr id="44" name="Imagen 43">
            <a:extLst>
              <a:ext uri="{FF2B5EF4-FFF2-40B4-BE49-F238E27FC236}">
                <a16:creationId xmlns:a16="http://schemas.microsoft.com/office/drawing/2014/main" id="{1FF4274E-C67A-4349-8758-B05C65F57214}"/>
              </a:ext>
            </a:extLst>
          </p:cNvPr>
          <p:cNvPicPr>
            <a:picLocks noChangeAspect="1"/>
          </p:cNvPicPr>
          <p:nvPr/>
        </p:nvPicPr>
        <p:blipFill>
          <a:blip r:embed="rId14"/>
          <a:stretch>
            <a:fillRect/>
          </a:stretch>
        </p:blipFill>
        <p:spPr>
          <a:xfrm>
            <a:off x="1092464" y="4848516"/>
            <a:ext cx="3324748" cy="598225"/>
          </a:xfrm>
          <a:prstGeom prst="rect">
            <a:avLst/>
          </a:prstGeom>
        </p:spPr>
      </p:pic>
      <p:pic>
        <p:nvPicPr>
          <p:cNvPr id="46" name="Imagen 45">
            <a:extLst>
              <a:ext uri="{FF2B5EF4-FFF2-40B4-BE49-F238E27FC236}">
                <a16:creationId xmlns:a16="http://schemas.microsoft.com/office/drawing/2014/main" id="{1551F907-B2CC-420E-B4CE-9D0A13D7BB2E}"/>
              </a:ext>
            </a:extLst>
          </p:cNvPr>
          <p:cNvPicPr>
            <a:picLocks noChangeAspect="1"/>
          </p:cNvPicPr>
          <p:nvPr/>
        </p:nvPicPr>
        <p:blipFill>
          <a:blip r:embed="rId15"/>
          <a:stretch>
            <a:fillRect/>
          </a:stretch>
        </p:blipFill>
        <p:spPr>
          <a:xfrm>
            <a:off x="5149991" y="4936784"/>
            <a:ext cx="2981325" cy="536432"/>
          </a:xfrm>
          <a:prstGeom prst="rect">
            <a:avLst/>
          </a:prstGeom>
        </p:spPr>
      </p:pic>
      <p:sp>
        <p:nvSpPr>
          <p:cNvPr id="47" name="CuadroTexto 46">
            <a:extLst>
              <a:ext uri="{FF2B5EF4-FFF2-40B4-BE49-F238E27FC236}">
                <a16:creationId xmlns:a16="http://schemas.microsoft.com/office/drawing/2014/main" id="{D85AF0E3-698F-4715-A16C-3590CD1B9838}"/>
              </a:ext>
            </a:extLst>
          </p:cNvPr>
          <p:cNvSpPr txBox="1"/>
          <p:nvPr/>
        </p:nvSpPr>
        <p:spPr>
          <a:xfrm>
            <a:off x="1157139" y="2360290"/>
            <a:ext cx="3346520" cy="307777"/>
          </a:xfrm>
          <a:prstGeom prst="rect">
            <a:avLst/>
          </a:prstGeom>
          <a:noFill/>
        </p:spPr>
        <p:txBody>
          <a:bodyPr wrap="square" rtlCol="0">
            <a:spAutoFit/>
          </a:bodyPr>
          <a:lstStyle/>
          <a:p>
            <a:r>
              <a:rPr lang="es-ES" sz="1400" dirty="0"/>
              <a:t>Gap= 0.6 </a:t>
            </a:r>
            <a:r>
              <a:rPr lang="es-ES" sz="1400" dirty="0" err="1"/>
              <a:t>um</a:t>
            </a:r>
            <a:r>
              <a:rPr lang="es-ES" sz="1400" dirty="0"/>
              <a:t>  </a:t>
            </a:r>
            <a:r>
              <a:rPr lang="es-ES" sz="1400" dirty="0" err="1"/>
              <a:t>Lpi</a:t>
            </a:r>
            <a:r>
              <a:rPr lang="es-ES" sz="1400" dirty="0"/>
              <a:t>= 94.02742605176876  µm</a:t>
            </a:r>
          </a:p>
        </p:txBody>
      </p:sp>
      <p:sp>
        <p:nvSpPr>
          <p:cNvPr id="50" name="CuadroTexto 49">
            <a:extLst>
              <a:ext uri="{FF2B5EF4-FFF2-40B4-BE49-F238E27FC236}">
                <a16:creationId xmlns:a16="http://schemas.microsoft.com/office/drawing/2014/main" id="{96F0B7B0-BE5F-4955-87A2-17E5A5569AA4}"/>
              </a:ext>
            </a:extLst>
          </p:cNvPr>
          <p:cNvSpPr txBox="1"/>
          <p:nvPr/>
        </p:nvSpPr>
        <p:spPr>
          <a:xfrm>
            <a:off x="4581311" y="2340037"/>
            <a:ext cx="3424173" cy="307777"/>
          </a:xfrm>
          <a:prstGeom prst="rect">
            <a:avLst/>
          </a:prstGeom>
          <a:noFill/>
        </p:spPr>
        <p:txBody>
          <a:bodyPr wrap="square" rtlCol="0">
            <a:spAutoFit/>
          </a:bodyPr>
          <a:lstStyle/>
          <a:p>
            <a:r>
              <a:rPr lang="es-ES" sz="1400" dirty="0"/>
              <a:t>Gap= 0.7 </a:t>
            </a:r>
            <a:r>
              <a:rPr lang="es-ES" sz="1400" dirty="0" err="1"/>
              <a:t>um</a:t>
            </a:r>
            <a:r>
              <a:rPr lang="es-ES" sz="1400" dirty="0"/>
              <a:t>  </a:t>
            </a:r>
            <a:r>
              <a:rPr lang="es-ES" sz="1400" dirty="0" err="1"/>
              <a:t>Lpi</a:t>
            </a:r>
            <a:r>
              <a:rPr lang="es-ES" sz="1400" dirty="0"/>
              <a:t>=  128.065673339184 µm</a:t>
            </a:r>
          </a:p>
        </p:txBody>
      </p:sp>
      <p:sp>
        <p:nvSpPr>
          <p:cNvPr id="51" name="CuadroTexto 50">
            <a:extLst>
              <a:ext uri="{FF2B5EF4-FFF2-40B4-BE49-F238E27FC236}">
                <a16:creationId xmlns:a16="http://schemas.microsoft.com/office/drawing/2014/main" id="{D8A5636A-59E8-44C8-8D33-EB4655C173E2}"/>
              </a:ext>
            </a:extLst>
          </p:cNvPr>
          <p:cNvSpPr txBox="1"/>
          <p:nvPr/>
        </p:nvSpPr>
        <p:spPr>
          <a:xfrm>
            <a:off x="8221362" y="2302773"/>
            <a:ext cx="3424173" cy="307777"/>
          </a:xfrm>
          <a:prstGeom prst="rect">
            <a:avLst/>
          </a:prstGeom>
          <a:noFill/>
        </p:spPr>
        <p:txBody>
          <a:bodyPr wrap="square" rtlCol="0">
            <a:spAutoFit/>
          </a:bodyPr>
          <a:lstStyle/>
          <a:p>
            <a:r>
              <a:rPr lang="es-ES" sz="1400" dirty="0"/>
              <a:t>Gap= 0.8 </a:t>
            </a:r>
            <a:r>
              <a:rPr lang="es-ES" sz="1400" dirty="0" err="1"/>
              <a:t>um</a:t>
            </a:r>
            <a:r>
              <a:rPr lang="es-ES" sz="1400" dirty="0"/>
              <a:t>  </a:t>
            </a:r>
            <a:r>
              <a:rPr lang="es-ES" sz="1400" dirty="0" err="1"/>
              <a:t>Lpi</a:t>
            </a:r>
            <a:r>
              <a:rPr lang="es-ES" sz="1400" dirty="0"/>
              <a:t>=  173.96389977139225 µm</a:t>
            </a:r>
          </a:p>
        </p:txBody>
      </p:sp>
      <p:sp>
        <p:nvSpPr>
          <p:cNvPr id="52" name="CuadroTexto 51">
            <a:extLst>
              <a:ext uri="{FF2B5EF4-FFF2-40B4-BE49-F238E27FC236}">
                <a16:creationId xmlns:a16="http://schemas.microsoft.com/office/drawing/2014/main" id="{5D8A6278-D563-4E6A-AD75-E9BB61C030B1}"/>
              </a:ext>
            </a:extLst>
          </p:cNvPr>
          <p:cNvSpPr txBox="1"/>
          <p:nvPr/>
        </p:nvSpPr>
        <p:spPr>
          <a:xfrm>
            <a:off x="1167115" y="3466436"/>
            <a:ext cx="3424173" cy="307777"/>
          </a:xfrm>
          <a:prstGeom prst="rect">
            <a:avLst/>
          </a:prstGeom>
          <a:noFill/>
        </p:spPr>
        <p:txBody>
          <a:bodyPr wrap="square" rtlCol="0">
            <a:spAutoFit/>
          </a:bodyPr>
          <a:lstStyle/>
          <a:p>
            <a:r>
              <a:rPr lang="es-ES" sz="1400" dirty="0"/>
              <a:t>Gap= 0.9 </a:t>
            </a:r>
            <a:r>
              <a:rPr lang="es-ES" sz="1400" dirty="0" err="1"/>
              <a:t>um</a:t>
            </a:r>
            <a:r>
              <a:rPr lang="es-ES" sz="1400" dirty="0"/>
              <a:t>  </a:t>
            </a:r>
            <a:r>
              <a:rPr lang="es-ES" sz="1400" dirty="0" err="1"/>
              <a:t>Lpi</a:t>
            </a:r>
            <a:r>
              <a:rPr lang="es-ES" sz="1400" dirty="0"/>
              <a:t>=  235.77407047787594 µm</a:t>
            </a:r>
          </a:p>
        </p:txBody>
      </p:sp>
      <p:sp>
        <p:nvSpPr>
          <p:cNvPr id="53" name="CuadroTexto 52">
            <a:extLst>
              <a:ext uri="{FF2B5EF4-FFF2-40B4-BE49-F238E27FC236}">
                <a16:creationId xmlns:a16="http://schemas.microsoft.com/office/drawing/2014/main" id="{5EDD2A61-6C4D-458E-BACE-A5826C0B02D6}"/>
              </a:ext>
            </a:extLst>
          </p:cNvPr>
          <p:cNvSpPr txBox="1"/>
          <p:nvPr/>
        </p:nvSpPr>
        <p:spPr>
          <a:xfrm>
            <a:off x="4928568" y="3464836"/>
            <a:ext cx="3424173" cy="307777"/>
          </a:xfrm>
          <a:prstGeom prst="rect">
            <a:avLst/>
          </a:prstGeom>
          <a:noFill/>
        </p:spPr>
        <p:txBody>
          <a:bodyPr wrap="square" rtlCol="0">
            <a:spAutoFit/>
          </a:bodyPr>
          <a:lstStyle/>
          <a:p>
            <a:r>
              <a:rPr lang="es-ES" sz="1400" dirty="0"/>
              <a:t>Gap= 1 </a:t>
            </a:r>
            <a:r>
              <a:rPr lang="es-ES" sz="1400" dirty="0" err="1"/>
              <a:t>um</a:t>
            </a:r>
            <a:r>
              <a:rPr lang="es-ES" sz="1400" dirty="0"/>
              <a:t>  </a:t>
            </a:r>
            <a:r>
              <a:rPr lang="es-ES" sz="1400" dirty="0" err="1"/>
              <a:t>Lpi</a:t>
            </a:r>
            <a:r>
              <a:rPr lang="es-ES" sz="1400" dirty="0"/>
              <a:t>=  318.88415207666543 µm</a:t>
            </a:r>
          </a:p>
        </p:txBody>
      </p:sp>
      <p:sp>
        <p:nvSpPr>
          <p:cNvPr id="54" name="CuadroTexto 53">
            <a:extLst>
              <a:ext uri="{FF2B5EF4-FFF2-40B4-BE49-F238E27FC236}">
                <a16:creationId xmlns:a16="http://schemas.microsoft.com/office/drawing/2014/main" id="{5997FB38-6FFC-4E9F-BAF3-8963FC82BD7C}"/>
              </a:ext>
            </a:extLst>
          </p:cNvPr>
          <p:cNvSpPr txBox="1"/>
          <p:nvPr/>
        </p:nvSpPr>
        <p:spPr>
          <a:xfrm>
            <a:off x="8284603" y="3418162"/>
            <a:ext cx="3424173" cy="307777"/>
          </a:xfrm>
          <a:prstGeom prst="rect">
            <a:avLst/>
          </a:prstGeom>
          <a:noFill/>
        </p:spPr>
        <p:txBody>
          <a:bodyPr wrap="square" rtlCol="0">
            <a:spAutoFit/>
          </a:bodyPr>
          <a:lstStyle/>
          <a:p>
            <a:r>
              <a:rPr lang="es-ES" sz="1400" dirty="0"/>
              <a:t>Gap= 1.1 </a:t>
            </a:r>
            <a:r>
              <a:rPr lang="es-ES" sz="1400" dirty="0" err="1"/>
              <a:t>um</a:t>
            </a:r>
            <a:r>
              <a:rPr lang="es-ES" sz="1400" dirty="0"/>
              <a:t>  </a:t>
            </a:r>
            <a:r>
              <a:rPr lang="es-ES" sz="1400" dirty="0" err="1"/>
              <a:t>Lpi</a:t>
            </a:r>
            <a:r>
              <a:rPr lang="es-ES" sz="1400" dirty="0"/>
              <a:t>=  430.54761007638376 µm</a:t>
            </a:r>
          </a:p>
        </p:txBody>
      </p:sp>
      <p:sp>
        <p:nvSpPr>
          <p:cNvPr id="55" name="CuadroTexto 54">
            <a:extLst>
              <a:ext uri="{FF2B5EF4-FFF2-40B4-BE49-F238E27FC236}">
                <a16:creationId xmlns:a16="http://schemas.microsoft.com/office/drawing/2014/main" id="{C0C4CAFC-127D-4A82-BFB3-B48697EBEB77}"/>
              </a:ext>
            </a:extLst>
          </p:cNvPr>
          <p:cNvSpPr txBox="1"/>
          <p:nvPr/>
        </p:nvSpPr>
        <p:spPr>
          <a:xfrm>
            <a:off x="1180749" y="4506750"/>
            <a:ext cx="3424173" cy="307777"/>
          </a:xfrm>
          <a:prstGeom prst="rect">
            <a:avLst/>
          </a:prstGeom>
          <a:noFill/>
        </p:spPr>
        <p:txBody>
          <a:bodyPr wrap="square" rtlCol="0">
            <a:spAutoFit/>
          </a:bodyPr>
          <a:lstStyle/>
          <a:p>
            <a:r>
              <a:rPr lang="es-ES" sz="1400" dirty="0"/>
              <a:t>Gap= 1.2 </a:t>
            </a:r>
            <a:r>
              <a:rPr lang="es-ES" sz="1400" dirty="0" err="1"/>
              <a:t>um</a:t>
            </a:r>
            <a:r>
              <a:rPr lang="es-ES" sz="1400" dirty="0"/>
              <a:t>  </a:t>
            </a:r>
            <a:r>
              <a:rPr lang="es-ES" sz="1400" dirty="0" err="1"/>
              <a:t>Lpi</a:t>
            </a:r>
            <a:r>
              <a:rPr lang="es-ES" sz="1400" dirty="0"/>
              <a:t>=  580.4293623072576 µm</a:t>
            </a:r>
          </a:p>
        </p:txBody>
      </p:sp>
      <p:sp>
        <p:nvSpPr>
          <p:cNvPr id="56" name="CuadroTexto 55">
            <a:extLst>
              <a:ext uri="{FF2B5EF4-FFF2-40B4-BE49-F238E27FC236}">
                <a16:creationId xmlns:a16="http://schemas.microsoft.com/office/drawing/2014/main" id="{8F566286-7807-4457-B12B-27A9AE34A862}"/>
              </a:ext>
            </a:extLst>
          </p:cNvPr>
          <p:cNvSpPr txBox="1"/>
          <p:nvPr/>
        </p:nvSpPr>
        <p:spPr>
          <a:xfrm>
            <a:off x="4991273" y="4502479"/>
            <a:ext cx="3424173" cy="307777"/>
          </a:xfrm>
          <a:prstGeom prst="rect">
            <a:avLst/>
          </a:prstGeom>
          <a:noFill/>
        </p:spPr>
        <p:txBody>
          <a:bodyPr wrap="square" rtlCol="0">
            <a:spAutoFit/>
          </a:bodyPr>
          <a:lstStyle/>
          <a:p>
            <a:r>
              <a:rPr lang="es-ES" sz="1400" dirty="0"/>
              <a:t>Gap= 1.3 </a:t>
            </a:r>
            <a:r>
              <a:rPr lang="es-ES" sz="1400" dirty="0" err="1"/>
              <a:t>um</a:t>
            </a:r>
            <a:r>
              <a:rPr lang="es-ES" sz="1400" dirty="0"/>
              <a:t>  </a:t>
            </a:r>
            <a:r>
              <a:rPr lang="es-ES" sz="1400" dirty="0" err="1"/>
              <a:t>Lpi</a:t>
            </a:r>
            <a:r>
              <a:rPr lang="es-ES" sz="1400" dirty="0"/>
              <a:t>=  781.3901391727065 µm</a:t>
            </a:r>
          </a:p>
        </p:txBody>
      </p:sp>
      <p:sp>
        <p:nvSpPr>
          <p:cNvPr id="57" name="CuadroTexto 56">
            <a:extLst>
              <a:ext uri="{FF2B5EF4-FFF2-40B4-BE49-F238E27FC236}">
                <a16:creationId xmlns:a16="http://schemas.microsoft.com/office/drawing/2014/main" id="{E94BEE07-A819-4272-B015-1656B7169055}"/>
              </a:ext>
            </a:extLst>
          </p:cNvPr>
          <p:cNvSpPr txBox="1"/>
          <p:nvPr/>
        </p:nvSpPr>
        <p:spPr>
          <a:xfrm>
            <a:off x="8352741" y="4500870"/>
            <a:ext cx="3424173" cy="307777"/>
          </a:xfrm>
          <a:prstGeom prst="rect">
            <a:avLst/>
          </a:prstGeom>
          <a:noFill/>
        </p:spPr>
        <p:txBody>
          <a:bodyPr wrap="square" rtlCol="0">
            <a:spAutoFit/>
          </a:bodyPr>
          <a:lstStyle/>
          <a:p>
            <a:r>
              <a:rPr lang="es-ES" sz="1400" dirty="0"/>
              <a:t>Gap= 1.4 </a:t>
            </a:r>
            <a:r>
              <a:rPr lang="es-ES" sz="1400" dirty="0" err="1"/>
              <a:t>um</a:t>
            </a:r>
            <a:r>
              <a:rPr lang="es-ES" sz="1400" dirty="0"/>
              <a:t>  </a:t>
            </a:r>
            <a:r>
              <a:rPr lang="es-ES" sz="1400" dirty="0" err="1"/>
              <a:t>Lpi</a:t>
            </a:r>
            <a:r>
              <a:rPr lang="es-ES" sz="1400" dirty="0"/>
              <a:t>=  1050.478684859016 µm</a:t>
            </a:r>
          </a:p>
        </p:txBody>
      </p:sp>
      <p:sp>
        <p:nvSpPr>
          <p:cNvPr id="58" name="CuadroTexto 57">
            <a:extLst>
              <a:ext uri="{FF2B5EF4-FFF2-40B4-BE49-F238E27FC236}">
                <a16:creationId xmlns:a16="http://schemas.microsoft.com/office/drawing/2014/main" id="{A566618E-3B5C-4FD6-B062-2DD297D2B4FF}"/>
              </a:ext>
            </a:extLst>
          </p:cNvPr>
          <p:cNvSpPr txBox="1"/>
          <p:nvPr/>
        </p:nvSpPr>
        <p:spPr>
          <a:xfrm>
            <a:off x="1234791" y="5395453"/>
            <a:ext cx="3424173" cy="307777"/>
          </a:xfrm>
          <a:prstGeom prst="rect">
            <a:avLst/>
          </a:prstGeom>
          <a:noFill/>
        </p:spPr>
        <p:txBody>
          <a:bodyPr wrap="square" rtlCol="0">
            <a:spAutoFit/>
          </a:bodyPr>
          <a:lstStyle/>
          <a:p>
            <a:r>
              <a:rPr lang="es-ES" sz="1400" dirty="0"/>
              <a:t>Gap= 1.5 </a:t>
            </a:r>
            <a:r>
              <a:rPr lang="es-ES" sz="1400" dirty="0" err="1"/>
              <a:t>um</a:t>
            </a:r>
            <a:r>
              <a:rPr lang="es-ES" sz="1400" dirty="0"/>
              <a:t>  </a:t>
            </a:r>
            <a:r>
              <a:rPr lang="es-ES" sz="1400" dirty="0" err="1"/>
              <a:t>Lpi</a:t>
            </a:r>
            <a:r>
              <a:rPr lang="es-ES" sz="1400" dirty="0"/>
              <a:t>=  1410.6607123685528 µm</a:t>
            </a:r>
          </a:p>
        </p:txBody>
      </p:sp>
      <p:sp>
        <p:nvSpPr>
          <p:cNvPr id="59" name="CuadroTexto 58">
            <a:extLst>
              <a:ext uri="{FF2B5EF4-FFF2-40B4-BE49-F238E27FC236}">
                <a16:creationId xmlns:a16="http://schemas.microsoft.com/office/drawing/2014/main" id="{0A4BDF8D-604B-4C83-880B-6A6AC06B8B98}"/>
              </a:ext>
            </a:extLst>
          </p:cNvPr>
          <p:cNvSpPr txBox="1"/>
          <p:nvPr/>
        </p:nvSpPr>
        <p:spPr>
          <a:xfrm>
            <a:off x="5087239" y="5406947"/>
            <a:ext cx="3424173" cy="307777"/>
          </a:xfrm>
          <a:prstGeom prst="rect">
            <a:avLst/>
          </a:prstGeom>
          <a:noFill/>
        </p:spPr>
        <p:txBody>
          <a:bodyPr wrap="square" rtlCol="0">
            <a:spAutoFit/>
          </a:bodyPr>
          <a:lstStyle/>
          <a:p>
            <a:r>
              <a:rPr lang="es-ES" sz="1400" dirty="0"/>
              <a:t>Gap= 1.6 </a:t>
            </a:r>
            <a:r>
              <a:rPr lang="es-ES" sz="1400" dirty="0" err="1"/>
              <a:t>um</a:t>
            </a:r>
            <a:r>
              <a:rPr lang="es-ES" sz="1400" dirty="0"/>
              <a:t>  </a:t>
            </a:r>
            <a:r>
              <a:rPr lang="es-ES" sz="1400" dirty="0" err="1"/>
              <a:t>Lpi</a:t>
            </a:r>
            <a:r>
              <a:rPr lang="es-ES" sz="1400" dirty="0"/>
              <a:t>=  1892.4674124101916 µm</a:t>
            </a:r>
          </a:p>
        </p:txBody>
      </p:sp>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E9286C7C-2D83-4FB4-ACFB-3511F42CB4D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69B0F8DE-DF38-4036-A7DE-1094677A27DD}"/>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6" name="CuadroTexto 5">
            <a:extLst>
              <a:ext uri="{FF2B5EF4-FFF2-40B4-BE49-F238E27FC236}">
                <a16:creationId xmlns:a16="http://schemas.microsoft.com/office/drawing/2014/main" id="{0BA00740-5654-401D-A2CB-2A129F2C6786}"/>
              </a:ext>
            </a:extLst>
          </p:cNvPr>
          <p:cNvSpPr txBox="1"/>
          <p:nvPr/>
        </p:nvSpPr>
        <p:spPr>
          <a:xfrm>
            <a:off x="6606919" y="1828800"/>
            <a:ext cx="4574428" cy="2308324"/>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representado</a:t>
            </a:r>
            <a:r>
              <a:rPr lang="en-US" sz="1200" dirty="0">
                <a:latin typeface="Arial" panose="020B0604020202020204" pitchFamily="34" charset="0"/>
                <a:cs typeface="Arial" panose="020B0604020202020204" pitchFamily="34" charset="0"/>
              </a:rPr>
              <a:t> la longitude de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function del gap </a:t>
            </a:r>
            <a:r>
              <a:rPr lang="en-US" sz="1200" dirty="0" err="1">
                <a:latin typeface="Arial" panose="020B0604020202020204" pitchFamily="34" charset="0"/>
                <a:cs typeface="Arial" panose="020B0604020202020204" pitchFamily="34" charset="0"/>
              </a:rPr>
              <a:t>obtenidas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simulaciones</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ver</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manera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visual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dependencia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significativamente</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ir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incrementando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separación</a:t>
            </a:r>
            <a:r>
              <a:rPr lang="en-US" sz="1200" dirty="0">
                <a:latin typeface="Arial" panose="020B0604020202020204" pitchFamily="34" charset="0"/>
                <a:cs typeface="Arial" panose="020B0604020202020204" pitchFamily="34" charset="0"/>
              </a:rPr>
              <a:t> entre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exponencial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Pasamos</a:t>
            </a:r>
            <a:r>
              <a:rPr lang="en-US" sz="1200" dirty="0">
                <a:latin typeface="Arial" panose="020B0604020202020204" pitchFamily="34" charset="0"/>
                <a:cs typeface="Arial" panose="020B0604020202020204" pitchFamily="34" charset="0"/>
              </a:rPr>
              <a:t> de gap= 0.6 um y </a:t>
            </a:r>
            <a:r>
              <a:rPr lang="en-US" sz="1200" dirty="0" err="1">
                <a:latin typeface="Arial" panose="020B0604020202020204" pitchFamily="34" charset="0"/>
                <a:cs typeface="Arial" panose="020B0604020202020204" pitchFamily="34" charset="0"/>
              </a:rPr>
              <a:t>obtener</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 94.03 um a un gap de 1.6 um,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1892.47 um.</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A mayor gap,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debil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és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y mayor 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necesaria</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transferir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p:txBody>
      </p:sp>
      <p:pic>
        <p:nvPicPr>
          <p:cNvPr id="3" name="Imagen 2">
            <a:extLst>
              <a:ext uri="{FF2B5EF4-FFF2-40B4-BE49-F238E27FC236}">
                <a16:creationId xmlns:a16="http://schemas.microsoft.com/office/drawing/2014/main" id="{2B1C0EA2-0558-46F7-8D9F-A852DE17F306}"/>
              </a:ext>
            </a:extLst>
          </p:cNvPr>
          <p:cNvPicPr>
            <a:picLocks noChangeAspect="1"/>
          </p:cNvPicPr>
          <p:nvPr/>
        </p:nvPicPr>
        <p:blipFill>
          <a:blip r:embed="rId2"/>
          <a:stretch>
            <a:fillRect/>
          </a:stretch>
        </p:blipFill>
        <p:spPr>
          <a:xfrm>
            <a:off x="633663" y="1295400"/>
            <a:ext cx="4951420" cy="3876496"/>
          </a:xfrm>
          <a:prstGeom prst="rect">
            <a:avLst/>
          </a:prstGeom>
        </p:spPr>
      </p:pic>
    </p:spTree>
    <p:extLst>
      <p:ext uri="{BB962C8B-B14F-4D97-AF65-F5344CB8AC3E}">
        <p14:creationId xmlns:p14="http://schemas.microsoft.com/office/powerpoint/2010/main" val="1271243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1938992"/>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nuestro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objetivo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buscar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minima de gap para </a:t>
            </a:r>
            <a:r>
              <a:rPr lang="en-US" sz="1200" dirty="0" err="1">
                <a:latin typeface="Arial" panose="020B0604020202020204" pitchFamily="34" charset="0"/>
                <a:cs typeface="Arial" panose="020B0604020202020204" pitchFamily="34" charset="0"/>
              </a:rPr>
              <a:t>evitar</a:t>
            </a:r>
            <a:r>
              <a:rPr lang="en-US" sz="1200" dirty="0">
                <a:latin typeface="Arial" panose="020B0604020202020204" pitchFamily="34" charset="0"/>
                <a:cs typeface="Arial" panose="020B0604020202020204" pitchFamily="34" charset="0"/>
              </a:rPr>
              <a:t> que la luz </a:t>
            </a:r>
            <a:r>
              <a:rPr lang="en-US" sz="1200" dirty="0" err="1">
                <a:latin typeface="Arial" panose="020B0604020202020204" pitchFamily="34" charset="0"/>
                <a:cs typeface="Arial" panose="020B0604020202020204" pitchFamily="34" charset="0"/>
              </a:rPr>
              <a:t>salte</a:t>
            </a:r>
            <a:r>
              <a:rPr lang="en-US" sz="1200" dirty="0">
                <a:latin typeface="Arial" panose="020B0604020202020204" pitchFamily="34" charset="0"/>
                <a:cs typeface="Arial" panose="020B0604020202020204" pitchFamily="34" charset="0"/>
              </a:rPr>
              <a:t> entre dos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paralelo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ello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del gap </a:t>
            </a:r>
            <a:r>
              <a:rPr lang="en-US" sz="1200" dirty="0" err="1">
                <a:latin typeface="Arial" panose="020B0604020202020204" pitchFamily="34" charset="0"/>
                <a:cs typeface="Arial" panose="020B0604020202020204" pitchFamily="34" charset="0"/>
              </a:rPr>
              <a:t>frente</a:t>
            </a:r>
            <a:r>
              <a:rPr lang="en-US" sz="1200" dirty="0">
                <a:latin typeface="Arial" panose="020B0604020202020204" pitchFamily="34" charset="0"/>
                <a:cs typeface="Arial" panose="020B0604020202020204" pitchFamily="34" charset="0"/>
              </a:rPr>
              <a:t> a K,   </a:t>
            </a:r>
          </a:p>
          <a:p>
            <a:pPr algn="just"/>
            <a:br>
              <a:rPr lang="en-US" sz="1200" dirty="0">
                <a:latin typeface="Arial" panose="020B0604020202020204" pitchFamily="34" charset="0"/>
                <a:cs typeface="Arial" panose="020B0604020202020204" pitchFamily="34" charset="0"/>
              </a:rPr>
            </a:b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
        <p:nvSpPr>
          <p:cNvPr id="6" name="Signo de multiplicación 5">
            <a:extLst>
              <a:ext uri="{FF2B5EF4-FFF2-40B4-BE49-F238E27FC236}">
                <a16:creationId xmlns:a16="http://schemas.microsoft.com/office/drawing/2014/main" id="{AC04EABA-F18D-4C07-9BC4-3EA07283F10D}"/>
              </a:ext>
            </a:extLst>
          </p:cNvPr>
          <p:cNvSpPr/>
          <p:nvPr/>
        </p:nvSpPr>
        <p:spPr>
          <a:xfrm>
            <a:off x="7833179" y="2169209"/>
            <a:ext cx="2956921" cy="1685937"/>
          </a:xfrm>
          <a:prstGeom prst="mathMultiply">
            <a:avLst/>
          </a:prstGeom>
          <a:solidFill>
            <a:schemeClr val="accent2"/>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1" name="Imagen 10">
            <a:extLst>
              <a:ext uri="{FF2B5EF4-FFF2-40B4-BE49-F238E27FC236}">
                <a16:creationId xmlns:a16="http://schemas.microsoft.com/office/drawing/2014/main" id="{53C9F671-3181-47B6-A699-930421C6120D}"/>
              </a:ext>
            </a:extLst>
          </p:cNvPr>
          <p:cNvPicPr>
            <a:picLocks noChangeAspect="1"/>
          </p:cNvPicPr>
          <p:nvPr/>
        </p:nvPicPr>
        <p:blipFill>
          <a:blip r:embed="rId7"/>
          <a:stretch>
            <a:fillRect/>
          </a:stretch>
        </p:blipFill>
        <p:spPr>
          <a:xfrm>
            <a:off x="806524" y="1393751"/>
            <a:ext cx="5206453" cy="2898628"/>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82ABC21-6345-43FA-BEB3-EA812D4912B8}"/>
              </a:ext>
            </a:extLst>
          </p:cNvPr>
          <p:cNvPicPr>
            <a:picLocks noChangeAspect="1"/>
          </p:cNvPicPr>
          <p:nvPr/>
        </p:nvPicPr>
        <p:blipFill>
          <a:blip r:embed="rId5"/>
          <a:stretch>
            <a:fillRect/>
          </a:stretch>
        </p:blipFill>
        <p:spPr>
          <a:xfrm>
            <a:off x="1513197" y="1551461"/>
            <a:ext cx="4710192" cy="1942433"/>
          </a:xfrm>
          <a:prstGeom prst="rect">
            <a:avLst/>
          </a:prstGeom>
        </p:spPr>
      </p:pic>
      <p:pic>
        <p:nvPicPr>
          <p:cNvPr id="9" name="Imagen 8">
            <a:extLst>
              <a:ext uri="{FF2B5EF4-FFF2-40B4-BE49-F238E27FC236}">
                <a16:creationId xmlns:a16="http://schemas.microsoft.com/office/drawing/2014/main" id="{650F9BE6-BA0B-49C2-B0DA-E782C2113994}"/>
              </a:ext>
            </a:extLst>
          </p:cNvPr>
          <p:cNvPicPr>
            <a:picLocks noChangeAspect="1"/>
          </p:cNvPicPr>
          <p:nvPr/>
        </p:nvPicPr>
        <p:blipFill>
          <a:blip r:embed="rId6"/>
          <a:stretch>
            <a:fillRect/>
          </a:stretch>
        </p:blipFill>
        <p:spPr>
          <a:xfrm>
            <a:off x="7010399" y="1551462"/>
            <a:ext cx="2649093" cy="1829316"/>
          </a:xfrm>
          <a:prstGeom prst="rect">
            <a:avLst/>
          </a:prstGeom>
        </p:spPr>
      </p:pic>
      <p:graphicFrame>
        <p:nvGraphicFramePr>
          <p:cNvPr id="13" name="Tabla 6">
            <a:extLst>
              <a:ext uri="{FF2B5EF4-FFF2-40B4-BE49-F238E27FC236}">
                <a16:creationId xmlns:a16="http://schemas.microsoft.com/office/drawing/2014/main" id="{33E6EDA4-806A-41FE-8831-77BB025CF70E}"/>
              </a:ext>
            </a:extLst>
          </p:cNvPr>
          <p:cNvGraphicFramePr>
            <a:graphicFrameLocks noGrp="1"/>
          </p:cNvGraphicFramePr>
          <p:nvPr>
            <p:extLst>
              <p:ext uri="{D42A27DB-BD31-4B8C-83A1-F6EECF244321}">
                <p14:modId xmlns:p14="http://schemas.microsoft.com/office/powerpoint/2010/main" val="1064967748"/>
              </p:ext>
            </p:extLst>
          </p:nvPr>
        </p:nvGraphicFramePr>
        <p:xfrm>
          <a:off x="1981200" y="3650912"/>
          <a:ext cx="6784766" cy="784993"/>
        </p:xfrm>
        <a:graphic>
          <a:graphicData uri="http://schemas.openxmlformats.org/drawingml/2006/table">
            <a:tbl>
              <a:tblPr firstRow="1" bandRow="1">
                <a:tableStyleId>{5C22544A-7EE6-4342-B048-85BDC9FD1C3A}</a:tableStyleId>
              </a:tblPr>
              <a:tblGrid>
                <a:gridCol w="2821982">
                  <a:extLst>
                    <a:ext uri="{9D8B030D-6E8A-4147-A177-3AD203B41FA5}">
                      <a16:colId xmlns:a16="http://schemas.microsoft.com/office/drawing/2014/main" val="1794412849"/>
                    </a:ext>
                  </a:extLst>
                </a:gridCol>
                <a:gridCol w="1729215">
                  <a:extLst>
                    <a:ext uri="{9D8B030D-6E8A-4147-A177-3AD203B41FA5}">
                      <a16:colId xmlns:a16="http://schemas.microsoft.com/office/drawing/2014/main" val="2945410550"/>
                    </a:ext>
                  </a:extLst>
                </a:gridCol>
                <a:gridCol w="2233569">
                  <a:extLst>
                    <a:ext uri="{9D8B030D-6E8A-4147-A177-3AD203B41FA5}">
                      <a16:colId xmlns:a16="http://schemas.microsoft.com/office/drawing/2014/main" val="3998529583"/>
                    </a:ext>
                  </a:extLst>
                </a:gridCol>
              </a:tblGrid>
              <a:tr h="399076">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85917">
                <a:tc>
                  <a:txBody>
                    <a:bodyPr/>
                    <a:lstStyle/>
                    <a:p>
                      <a:r>
                        <a:rPr lang="es-ES" dirty="0"/>
                        <a:t>6.6</a:t>
                      </a:r>
                    </a:p>
                  </a:txBody>
                  <a:tcPr/>
                </a:tc>
                <a:tc>
                  <a:txBody>
                    <a:bodyPr/>
                    <a:lstStyle/>
                    <a:p>
                      <a:r>
                        <a:rPr lang="es-ES" b="0" i="0" dirty="0">
                          <a:solidFill>
                            <a:schemeClr val="dk1"/>
                          </a:solidFill>
                          <a:effectLst/>
                          <a:latin typeface="+mn-lt"/>
                          <a:ea typeface="+mn-ea"/>
                          <a:cs typeface="+mn-cs"/>
                        </a:rPr>
                        <a:t>0.4217</a:t>
                      </a:r>
                      <a:endParaRPr lang="es-ES" dirty="0"/>
                    </a:p>
                  </a:txBody>
                  <a:tcPr/>
                </a:tc>
                <a:tc>
                  <a:txBody>
                    <a:bodyPr/>
                    <a:lstStyle/>
                    <a:p>
                      <a:r>
                        <a:rPr lang="es-ES" b="0" i="0" dirty="0">
                          <a:solidFill>
                            <a:schemeClr val="dk1"/>
                          </a:solidFill>
                          <a:effectLst/>
                          <a:latin typeface="+mn-lt"/>
                          <a:ea typeface="+mn-ea"/>
                          <a:cs typeface="+mn-cs"/>
                        </a:rPr>
                        <a:t>['0.5152', '0.4848']</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281567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8FC4B0DD-3E3B-4BA7-96DE-842CDC92C3F2}"/>
              </a:ext>
            </a:extLst>
          </p:cNvPr>
          <p:cNvPicPr>
            <a:picLocks noChangeAspect="1"/>
          </p:cNvPicPr>
          <p:nvPr/>
        </p:nvPicPr>
        <p:blipFill>
          <a:blip r:embed="rId5"/>
          <a:stretch>
            <a:fillRect/>
          </a:stretch>
        </p:blipFill>
        <p:spPr>
          <a:xfrm>
            <a:off x="7010400" y="1582495"/>
            <a:ext cx="2820897" cy="1762135"/>
          </a:xfrm>
          <a:prstGeom prst="rect">
            <a:avLst/>
          </a:prstGeom>
        </p:spPr>
      </p:pic>
      <p:pic>
        <p:nvPicPr>
          <p:cNvPr id="14" name="Imagen 13">
            <a:extLst>
              <a:ext uri="{FF2B5EF4-FFF2-40B4-BE49-F238E27FC236}">
                <a16:creationId xmlns:a16="http://schemas.microsoft.com/office/drawing/2014/main" id="{7A8B332E-1833-4740-A240-712FB84CF020}"/>
              </a:ext>
            </a:extLst>
          </p:cNvPr>
          <p:cNvPicPr>
            <a:picLocks noChangeAspect="1"/>
          </p:cNvPicPr>
          <p:nvPr/>
        </p:nvPicPr>
        <p:blipFill>
          <a:blip r:embed="rId6"/>
          <a:stretch>
            <a:fillRect/>
          </a:stretch>
        </p:blipFill>
        <p:spPr>
          <a:xfrm>
            <a:off x="1981200" y="1510240"/>
            <a:ext cx="4721197" cy="1955328"/>
          </a:xfrm>
          <a:prstGeom prst="rect">
            <a:avLst/>
          </a:prstGeom>
        </p:spPr>
      </p:pic>
      <p:graphicFrame>
        <p:nvGraphicFramePr>
          <p:cNvPr id="15" name="Tabla 6">
            <a:extLst>
              <a:ext uri="{FF2B5EF4-FFF2-40B4-BE49-F238E27FC236}">
                <a16:creationId xmlns:a16="http://schemas.microsoft.com/office/drawing/2014/main" id="{382DBB63-2CA4-4648-A53C-E50A3E7EFA57}"/>
              </a:ext>
            </a:extLst>
          </p:cNvPr>
          <p:cNvGraphicFramePr>
            <a:graphicFrameLocks noGrp="1"/>
          </p:cNvGraphicFramePr>
          <p:nvPr>
            <p:extLst>
              <p:ext uri="{D42A27DB-BD31-4B8C-83A1-F6EECF244321}">
                <p14:modId xmlns:p14="http://schemas.microsoft.com/office/powerpoint/2010/main" val="3855458773"/>
              </p:ext>
            </p:extLst>
          </p:nvPr>
        </p:nvGraphicFramePr>
        <p:xfrm>
          <a:off x="1700968" y="3597221"/>
          <a:ext cx="8848825" cy="743992"/>
        </p:xfrm>
        <a:graphic>
          <a:graphicData uri="http://schemas.openxmlformats.org/drawingml/2006/table">
            <a:tbl>
              <a:tblPr firstRow="1" bandRow="1">
                <a:tableStyleId>{5C22544A-7EE6-4342-B048-85BDC9FD1C3A}</a:tableStyleId>
              </a:tblPr>
              <a:tblGrid>
                <a:gridCol w="2908355">
                  <a:extLst>
                    <a:ext uri="{9D8B030D-6E8A-4147-A177-3AD203B41FA5}">
                      <a16:colId xmlns:a16="http://schemas.microsoft.com/office/drawing/2014/main" val="1794412849"/>
                    </a:ext>
                  </a:extLst>
                </a:gridCol>
                <a:gridCol w="816815">
                  <a:extLst>
                    <a:ext uri="{9D8B030D-6E8A-4147-A177-3AD203B41FA5}">
                      <a16:colId xmlns:a16="http://schemas.microsoft.com/office/drawing/2014/main" val="2100323231"/>
                    </a:ext>
                  </a:extLst>
                </a:gridCol>
                <a:gridCol w="1039582">
                  <a:extLst>
                    <a:ext uri="{9D8B030D-6E8A-4147-A177-3AD203B41FA5}">
                      <a16:colId xmlns:a16="http://schemas.microsoft.com/office/drawing/2014/main" val="3349686945"/>
                    </a:ext>
                  </a:extLst>
                </a:gridCol>
                <a:gridCol w="1782141">
                  <a:extLst>
                    <a:ext uri="{9D8B030D-6E8A-4147-A177-3AD203B41FA5}">
                      <a16:colId xmlns:a16="http://schemas.microsoft.com/office/drawing/2014/main" val="2945410550"/>
                    </a:ext>
                  </a:extLst>
                </a:gridCol>
                <a:gridCol w="2301932">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6.6</a:t>
                      </a:r>
                    </a:p>
                  </a:txBody>
                  <a:tcPr/>
                </a:tc>
                <a:tc>
                  <a:txBody>
                    <a:bodyPr/>
                    <a:lstStyle/>
                    <a:p>
                      <a:r>
                        <a:rPr lang="es-ES" dirty="0"/>
                        <a:t>0.05</a:t>
                      </a:r>
                    </a:p>
                  </a:txBody>
                  <a:tcPr/>
                </a:tc>
                <a:tc>
                  <a:txBody>
                    <a:bodyPr/>
                    <a:lstStyle/>
                    <a:p>
                      <a:r>
                        <a:rPr lang="es-ES" dirty="0"/>
                        <a:t>-0.3</a:t>
                      </a:r>
                    </a:p>
                  </a:txBody>
                  <a:tcPr/>
                </a:tc>
                <a:tc>
                  <a:txBody>
                    <a:bodyPr/>
                    <a:lstStyle/>
                    <a:p>
                      <a:r>
                        <a:rPr lang="es-ES" b="0" i="0" dirty="0">
                          <a:solidFill>
                            <a:schemeClr val="dk1"/>
                          </a:solidFill>
                          <a:effectLst/>
                          <a:latin typeface="+mn-lt"/>
                          <a:ea typeface="+mn-ea"/>
                          <a:cs typeface="+mn-cs"/>
                        </a:rPr>
                        <a:t>0.3800</a:t>
                      </a:r>
                      <a:endParaRPr lang="es-ES" dirty="0"/>
                    </a:p>
                  </a:txBody>
                  <a:tcPr/>
                </a:tc>
                <a:tc>
                  <a:txBody>
                    <a:bodyPr/>
                    <a:lstStyle/>
                    <a:p>
                      <a:r>
                        <a:rPr lang="es-ES" b="0" i="0" dirty="0">
                          <a:solidFill>
                            <a:schemeClr val="dk1"/>
                          </a:solidFill>
                          <a:effectLst/>
                          <a:latin typeface="+mn-lt"/>
                          <a:ea typeface="+mn-ea"/>
                          <a:cs typeface="+mn-cs"/>
                        </a:rPr>
                        <a:t>['0.5097', '0.4903']</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2685215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7" name="Tabla 6">
            <a:extLst>
              <a:ext uri="{FF2B5EF4-FFF2-40B4-BE49-F238E27FC236}">
                <a16:creationId xmlns:a16="http://schemas.microsoft.com/office/drawing/2014/main" id="{125333E9-E734-46B4-984D-979FF277870F}"/>
              </a:ext>
            </a:extLst>
          </p:cNvPr>
          <p:cNvGraphicFramePr>
            <a:graphicFrameLocks noGrp="1"/>
          </p:cNvGraphicFramePr>
          <p:nvPr>
            <p:extLst>
              <p:ext uri="{D42A27DB-BD31-4B8C-83A1-F6EECF244321}">
                <p14:modId xmlns:p14="http://schemas.microsoft.com/office/powerpoint/2010/main" val="2301833566"/>
              </p:ext>
            </p:extLst>
          </p:nvPr>
        </p:nvGraphicFramePr>
        <p:xfrm>
          <a:off x="1700968" y="3597221"/>
          <a:ext cx="8848825" cy="743992"/>
        </p:xfrm>
        <a:graphic>
          <a:graphicData uri="http://schemas.openxmlformats.org/drawingml/2006/table">
            <a:tbl>
              <a:tblPr firstRow="1" bandRow="1">
                <a:tableStyleId>{5C22544A-7EE6-4342-B048-85BDC9FD1C3A}</a:tableStyleId>
              </a:tblPr>
              <a:tblGrid>
                <a:gridCol w="2908355">
                  <a:extLst>
                    <a:ext uri="{9D8B030D-6E8A-4147-A177-3AD203B41FA5}">
                      <a16:colId xmlns:a16="http://schemas.microsoft.com/office/drawing/2014/main" val="1794412849"/>
                    </a:ext>
                  </a:extLst>
                </a:gridCol>
                <a:gridCol w="816815">
                  <a:extLst>
                    <a:ext uri="{9D8B030D-6E8A-4147-A177-3AD203B41FA5}">
                      <a16:colId xmlns:a16="http://schemas.microsoft.com/office/drawing/2014/main" val="2100323231"/>
                    </a:ext>
                  </a:extLst>
                </a:gridCol>
                <a:gridCol w="1039582">
                  <a:extLst>
                    <a:ext uri="{9D8B030D-6E8A-4147-A177-3AD203B41FA5}">
                      <a16:colId xmlns:a16="http://schemas.microsoft.com/office/drawing/2014/main" val="3349686945"/>
                    </a:ext>
                  </a:extLst>
                </a:gridCol>
                <a:gridCol w="1782141">
                  <a:extLst>
                    <a:ext uri="{9D8B030D-6E8A-4147-A177-3AD203B41FA5}">
                      <a16:colId xmlns:a16="http://schemas.microsoft.com/office/drawing/2014/main" val="2945410550"/>
                    </a:ext>
                  </a:extLst>
                </a:gridCol>
                <a:gridCol w="2301932">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6.6 + 1.1</a:t>
                      </a:r>
                    </a:p>
                  </a:txBody>
                  <a:tcPr/>
                </a:tc>
                <a:tc>
                  <a:txBody>
                    <a:bodyPr/>
                    <a:lstStyle/>
                    <a:p>
                      <a:r>
                        <a:rPr lang="es-ES" dirty="0"/>
                        <a:t>0.05</a:t>
                      </a:r>
                    </a:p>
                  </a:txBody>
                  <a:tcPr/>
                </a:tc>
                <a:tc>
                  <a:txBody>
                    <a:bodyPr/>
                    <a:lstStyle/>
                    <a:p>
                      <a:r>
                        <a:rPr lang="es-ES" dirty="0"/>
                        <a:t>-0.3</a:t>
                      </a:r>
                    </a:p>
                  </a:txBody>
                  <a:tcPr/>
                </a:tc>
                <a:tc>
                  <a:txBody>
                    <a:bodyPr/>
                    <a:lstStyle/>
                    <a:p>
                      <a:r>
                        <a:rPr lang="es-ES" b="0" i="0" dirty="0">
                          <a:solidFill>
                            <a:schemeClr val="dk1"/>
                          </a:solidFill>
                          <a:effectLst/>
                          <a:latin typeface="+mn-lt"/>
                          <a:ea typeface="+mn-ea"/>
                          <a:cs typeface="+mn-cs"/>
                        </a:rPr>
                        <a:t>0.0027</a:t>
                      </a:r>
                      <a:endParaRPr lang="es-ES" dirty="0"/>
                    </a:p>
                  </a:txBody>
                  <a:tcPr/>
                </a:tc>
                <a:tc>
                  <a:txBody>
                    <a:bodyPr/>
                    <a:lstStyle/>
                    <a:p>
                      <a:r>
                        <a:rPr lang="es-ES" b="0" i="0" dirty="0">
                          <a:solidFill>
                            <a:schemeClr val="dk1"/>
                          </a:solidFill>
                          <a:effectLst/>
                          <a:latin typeface="+mn-lt"/>
                          <a:ea typeface="+mn-ea"/>
                          <a:cs typeface="+mn-cs"/>
                        </a:rPr>
                        <a:t>['0.5084', '0.4916']</a:t>
                      </a:r>
                      <a:endParaRPr lang="es-ES" dirty="0"/>
                    </a:p>
                  </a:txBody>
                  <a:tcPr/>
                </a:tc>
                <a:extLst>
                  <a:ext uri="{0D108BD9-81ED-4DB2-BD59-A6C34878D82A}">
                    <a16:rowId xmlns:a16="http://schemas.microsoft.com/office/drawing/2014/main" val="4255659296"/>
                  </a:ext>
                </a:extLst>
              </a:tr>
            </a:tbl>
          </a:graphicData>
        </a:graphic>
      </p:graphicFrame>
      <p:pic>
        <p:nvPicPr>
          <p:cNvPr id="31" name="Imagen 30">
            <a:extLst>
              <a:ext uri="{FF2B5EF4-FFF2-40B4-BE49-F238E27FC236}">
                <a16:creationId xmlns:a16="http://schemas.microsoft.com/office/drawing/2014/main" id="{83C9CB34-EF25-4F5F-BDC2-614314C60680}"/>
              </a:ext>
            </a:extLst>
          </p:cNvPr>
          <p:cNvPicPr>
            <a:picLocks noChangeAspect="1"/>
          </p:cNvPicPr>
          <p:nvPr/>
        </p:nvPicPr>
        <p:blipFill>
          <a:blip r:embed="rId5"/>
          <a:stretch>
            <a:fillRect/>
          </a:stretch>
        </p:blipFill>
        <p:spPr>
          <a:xfrm>
            <a:off x="6870402" y="1544787"/>
            <a:ext cx="2445249" cy="1781107"/>
          </a:xfrm>
          <a:prstGeom prst="rect">
            <a:avLst/>
          </a:prstGeom>
        </p:spPr>
      </p:pic>
      <p:pic>
        <p:nvPicPr>
          <p:cNvPr id="33" name="Imagen 32">
            <a:extLst>
              <a:ext uri="{FF2B5EF4-FFF2-40B4-BE49-F238E27FC236}">
                <a16:creationId xmlns:a16="http://schemas.microsoft.com/office/drawing/2014/main" id="{5F53F8DE-FCC8-4DA3-ADEB-716C48C020E7}"/>
              </a:ext>
            </a:extLst>
          </p:cNvPr>
          <p:cNvPicPr>
            <a:picLocks noChangeAspect="1"/>
          </p:cNvPicPr>
          <p:nvPr/>
        </p:nvPicPr>
        <p:blipFill>
          <a:blip r:embed="rId6"/>
          <a:stretch>
            <a:fillRect/>
          </a:stretch>
        </p:blipFill>
        <p:spPr>
          <a:xfrm>
            <a:off x="2018522" y="1643408"/>
            <a:ext cx="4389325" cy="1817880"/>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#5.1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Imagen 19">
            <a:extLst>
              <a:ext uri="{FF2B5EF4-FFF2-40B4-BE49-F238E27FC236}">
                <a16:creationId xmlns:a16="http://schemas.microsoft.com/office/drawing/2014/main" id="{4422EE65-3928-4AB6-BF64-73D18353408D}"/>
              </a:ext>
            </a:extLst>
          </p:cNvPr>
          <p:cNvPicPr>
            <a:picLocks noChangeAspect="1"/>
          </p:cNvPicPr>
          <p:nvPr/>
        </p:nvPicPr>
        <p:blipFill>
          <a:blip r:embed="rId5"/>
          <a:stretch>
            <a:fillRect/>
          </a:stretch>
        </p:blipFill>
        <p:spPr>
          <a:xfrm>
            <a:off x="1494913" y="1535427"/>
            <a:ext cx="4616591" cy="1978539"/>
          </a:xfrm>
          <a:prstGeom prst="rect">
            <a:avLst/>
          </a:prstGeom>
        </p:spPr>
      </p:pic>
      <p:pic>
        <p:nvPicPr>
          <p:cNvPr id="22" name="Imagen 21">
            <a:extLst>
              <a:ext uri="{FF2B5EF4-FFF2-40B4-BE49-F238E27FC236}">
                <a16:creationId xmlns:a16="http://schemas.microsoft.com/office/drawing/2014/main" id="{1ACFF01F-200B-431E-A4F8-BE725FFBE6D9}"/>
              </a:ext>
            </a:extLst>
          </p:cNvPr>
          <p:cNvPicPr>
            <a:picLocks noChangeAspect="1"/>
          </p:cNvPicPr>
          <p:nvPr/>
        </p:nvPicPr>
        <p:blipFill>
          <a:blip r:embed="rId6"/>
          <a:stretch>
            <a:fillRect/>
          </a:stretch>
        </p:blipFill>
        <p:spPr>
          <a:xfrm>
            <a:off x="6514865" y="1597894"/>
            <a:ext cx="3722995" cy="1831106"/>
          </a:xfrm>
          <a:prstGeom prst="rect">
            <a:avLst/>
          </a:prstGeom>
        </p:spPr>
      </p:pic>
      <p:graphicFrame>
        <p:nvGraphicFramePr>
          <p:cNvPr id="25" name="Tabla 6">
            <a:extLst>
              <a:ext uri="{FF2B5EF4-FFF2-40B4-BE49-F238E27FC236}">
                <a16:creationId xmlns:a16="http://schemas.microsoft.com/office/drawing/2014/main" id="{449CA004-AE80-4863-B385-A74B15E72400}"/>
              </a:ext>
            </a:extLst>
          </p:cNvPr>
          <p:cNvGraphicFramePr>
            <a:graphicFrameLocks noGrp="1"/>
          </p:cNvGraphicFramePr>
          <p:nvPr>
            <p:extLst>
              <p:ext uri="{D42A27DB-BD31-4B8C-83A1-F6EECF244321}">
                <p14:modId xmlns:p14="http://schemas.microsoft.com/office/powerpoint/2010/main" val="1001735931"/>
              </p:ext>
            </p:extLst>
          </p:nvPr>
        </p:nvGraphicFramePr>
        <p:xfrm>
          <a:off x="1490902" y="3631777"/>
          <a:ext cx="9210196" cy="784993"/>
        </p:xfrm>
        <a:graphic>
          <a:graphicData uri="http://schemas.openxmlformats.org/drawingml/2006/table">
            <a:tbl>
              <a:tblPr firstRow="1" bandRow="1">
                <a:tableStyleId>{5C22544A-7EE6-4342-B048-85BDC9FD1C3A}</a:tableStyleId>
              </a:tblPr>
              <a:tblGrid>
                <a:gridCol w="2733196">
                  <a:extLst>
                    <a:ext uri="{9D8B030D-6E8A-4147-A177-3AD203B41FA5}">
                      <a16:colId xmlns:a16="http://schemas.microsoft.com/office/drawing/2014/main" val="1794412849"/>
                    </a:ext>
                  </a:extLst>
                </a:gridCol>
                <a:gridCol w="2337903">
                  <a:extLst>
                    <a:ext uri="{9D8B030D-6E8A-4147-A177-3AD203B41FA5}">
                      <a16:colId xmlns:a16="http://schemas.microsoft.com/office/drawing/2014/main" val="2945410550"/>
                    </a:ext>
                  </a:extLst>
                </a:gridCol>
                <a:gridCol w="4139097">
                  <a:extLst>
                    <a:ext uri="{9D8B030D-6E8A-4147-A177-3AD203B41FA5}">
                      <a16:colId xmlns:a16="http://schemas.microsoft.com/office/drawing/2014/main" val="3998529583"/>
                    </a:ext>
                  </a:extLst>
                </a:gridCol>
              </a:tblGrid>
              <a:tr h="399076">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85917">
                <a:tc>
                  <a:txBody>
                    <a:bodyPr/>
                    <a:lstStyle/>
                    <a:p>
                      <a:r>
                        <a:rPr lang="es-ES" dirty="0"/>
                        <a:t>13.2</a:t>
                      </a:r>
                    </a:p>
                  </a:txBody>
                  <a:tcPr/>
                </a:tc>
                <a:tc>
                  <a:txBody>
                    <a:bodyPr/>
                    <a:lstStyle/>
                    <a:p>
                      <a:r>
                        <a:rPr lang="es-ES" b="0" i="0" dirty="0">
                          <a:solidFill>
                            <a:schemeClr val="dk1"/>
                          </a:solidFill>
                          <a:effectLst/>
                          <a:latin typeface="+mn-lt"/>
                          <a:ea typeface="+mn-ea"/>
                          <a:cs typeface="+mn-cs"/>
                        </a:rPr>
                        <a:t>0.9430</a:t>
                      </a:r>
                      <a:endParaRPr lang="es-ES" dirty="0"/>
                    </a:p>
                  </a:txBody>
                  <a:tcPr/>
                </a:tc>
                <a:tc>
                  <a:txBody>
                    <a:bodyPr/>
                    <a:lstStyle/>
                    <a:p>
                      <a:r>
                        <a:rPr lang="es-ES" b="0" i="0" dirty="0">
                          <a:solidFill>
                            <a:schemeClr val="dk1"/>
                          </a:solidFill>
                          <a:effectLst/>
                          <a:latin typeface="+mn-lt"/>
                          <a:ea typeface="+mn-ea"/>
                          <a:cs typeface="+mn-cs"/>
                        </a:rPr>
                        <a:t>['0.2432', '0.2568', '0.2567', '0.2433']</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6998643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#5.2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3" name="Tabla 6">
            <a:extLst>
              <a:ext uri="{FF2B5EF4-FFF2-40B4-BE49-F238E27FC236}">
                <a16:creationId xmlns:a16="http://schemas.microsoft.com/office/drawing/2014/main" id="{BFA61449-D3E5-4649-922F-B126177DC082}"/>
              </a:ext>
            </a:extLst>
          </p:cNvPr>
          <p:cNvGraphicFramePr>
            <a:graphicFrameLocks noGrp="1"/>
          </p:cNvGraphicFramePr>
          <p:nvPr>
            <p:extLst>
              <p:ext uri="{D42A27DB-BD31-4B8C-83A1-F6EECF244321}">
                <p14:modId xmlns:p14="http://schemas.microsoft.com/office/powerpoint/2010/main" val="27380287"/>
              </p:ext>
            </p:extLst>
          </p:nvPr>
        </p:nvGraphicFramePr>
        <p:xfrm>
          <a:off x="1420505" y="3746620"/>
          <a:ext cx="9525000" cy="743992"/>
        </p:xfrm>
        <a:graphic>
          <a:graphicData uri="http://schemas.openxmlformats.org/drawingml/2006/table">
            <a:tbl>
              <a:tblPr firstRow="1" bandRow="1">
                <a:tableStyleId>{5C22544A-7EE6-4342-B048-85BDC9FD1C3A}</a:tableStyleId>
              </a:tblPr>
              <a:tblGrid>
                <a:gridCol w="2761819">
                  <a:extLst>
                    <a:ext uri="{9D8B030D-6E8A-4147-A177-3AD203B41FA5}">
                      <a16:colId xmlns:a16="http://schemas.microsoft.com/office/drawing/2014/main" val="1794412849"/>
                    </a:ext>
                  </a:extLst>
                </a:gridCol>
                <a:gridCol w="609600">
                  <a:extLst>
                    <a:ext uri="{9D8B030D-6E8A-4147-A177-3AD203B41FA5}">
                      <a16:colId xmlns:a16="http://schemas.microsoft.com/office/drawing/2014/main" val="2100323231"/>
                    </a:ext>
                  </a:extLst>
                </a:gridCol>
                <a:gridCol w="685800">
                  <a:extLst>
                    <a:ext uri="{9D8B030D-6E8A-4147-A177-3AD203B41FA5}">
                      <a16:colId xmlns:a16="http://schemas.microsoft.com/office/drawing/2014/main" val="3349686945"/>
                    </a:ext>
                  </a:extLst>
                </a:gridCol>
                <a:gridCol w="1752600">
                  <a:extLst>
                    <a:ext uri="{9D8B030D-6E8A-4147-A177-3AD203B41FA5}">
                      <a16:colId xmlns:a16="http://schemas.microsoft.com/office/drawing/2014/main" val="2945410550"/>
                    </a:ext>
                  </a:extLst>
                </a:gridCol>
                <a:gridCol w="3715181">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13.2</a:t>
                      </a:r>
                    </a:p>
                  </a:txBody>
                  <a:tcPr/>
                </a:tc>
                <a:tc>
                  <a:txBody>
                    <a:bodyPr/>
                    <a:lstStyle/>
                    <a:p>
                      <a:r>
                        <a:rPr lang="es-ES" dirty="0"/>
                        <a:t>0.07</a:t>
                      </a:r>
                    </a:p>
                  </a:txBody>
                  <a:tcPr/>
                </a:tc>
                <a:tc>
                  <a:txBody>
                    <a:bodyPr/>
                    <a:lstStyle/>
                    <a:p>
                      <a:r>
                        <a:rPr lang="es-ES" dirty="0"/>
                        <a:t>-1.1</a:t>
                      </a:r>
                    </a:p>
                  </a:txBody>
                  <a:tcPr/>
                </a:tc>
                <a:tc>
                  <a:txBody>
                    <a:bodyPr/>
                    <a:lstStyle/>
                    <a:p>
                      <a:r>
                        <a:rPr lang="es-ES" b="0" i="0" dirty="0">
                          <a:solidFill>
                            <a:schemeClr val="dk1"/>
                          </a:solidFill>
                          <a:effectLst/>
                          <a:latin typeface="+mn-lt"/>
                          <a:ea typeface="+mn-ea"/>
                          <a:cs typeface="+mn-cs"/>
                        </a:rPr>
                        <a:t>0.7777</a:t>
                      </a:r>
                      <a:endParaRPr lang="es-ES" dirty="0"/>
                    </a:p>
                  </a:txBody>
                  <a:tcPr/>
                </a:tc>
                <a:tc>
                  <a:txBody>
                    <a:bodyPr/>
                    <a:lstStyle/>
                    <a:p>
                      <a:r>
                        <a:rPr lang="es-ES" b="0" i="0" dirty="0">
                          <a:solidFill>
                            <a:schemeClr val="dk1"/>
                          </a:solidFill>
                          <a:effectLst/>
                          <a:latin typeface="+mn-lt"/>
                          <a:ea typeface="+mn-ea"/>
                          <a:cs typeface="+mn-cs"/>
                        </a:rPr>
                        <a:t>['0.2481', '0.2520', '0.2519', '0.2481']</a:t>
                      </a:r>
                      <a:endParaRPr lang="es-ES" dirty="0"/>
                    </a:p>
                  </a:txBody>
                  <a:tcPr/>
                </a:tc>
                <a:extLst>
                  <a:ext uri="{0D108BD9-81ED-4DB2-BD59-A6C34878D82A}">
                    <a16:rowId xmlns:a16="http://schemas.microsoft.com/office/drawing/2014/main" val="4255659296"/>
                  </a:ext>
                </a:extLst>
              </a:tr>
            </a:tbl>
          </a:graphicData>
        </a:graphic>
      </p:graphicFrame>
      <p:pic>
        <p:nvPicPr>
          <p:cNvPr id="17" name="Imagen 16">
            <a:extLst>
              <a:ext uri="{FF2B5EF4-FFF2-40B4-BE49-F238E27FC236}">
                <a16:creationId xmlns:a16="http://schemas.microsoft.com/office/drawing/2014/main" id="{57EAC778-2749-4B02-9D32-95CC2A09A124}"/>
              </a:ext>
            </a:extLst>
          </p:cNvPr>
          <p:cNvPicPr>
            <a:picLocks noChangeAspect="1"/>
          </p:cNvPicPr>
          <p:nvPr/>
        </p:nvPicPr>
        <p:blipFill>
          <a:blip r:embed="rId5"/>
          <a:stretch>
            <a:fillRect/>
          </a:stretch>
        </p:blipFill>
        <p:spPr>
          <a:xfrm>
            <a:off x="5943600" y="1605520"/>
            <a:ext cx="4031339" cy="1950926"/>
          </a:xfrm>
          <a:prstGeom prst="rect">
            <a:avLst/>
          </a:prstGeom>
        </p:spPr>
      </p:pic>
      <p:pic>
        <p:nvPicPr>
          <p:cNvPr id="19" name="Imagen 18">
            <a:extLst>
              <a:ext uri="{FF2B5EF4-FFF2-40B4-BE49-F238E27FC236}">
                <a16:creationId xmlns:a16="http://schemas.microsoft.com/office/drawing/2014/main" id="{8AF66268-8662-48CC-8F4C-A93D1B734E5C}"/>
              </a:ext>
            </a:extLst>
          </p:cNvPr>
          <p:cNvPicPr>
            <a:picLocks noChangeAspect="1"/>
          </p:cNvPicPr>
          <p:nvPr/>
        </p:nvPicPr>
        <p:blipFill>
          <a:blip r:embed="rId6"/>
          <a:stretch>
            <a:fillRect/>
          </a:stretch>
        </p:blipFill>
        <p:spPr>
          <a:xfrm>
            <a:off x="1524000" y="1846298"/>
            <a:ext cx="3876675" cy="1681694"/>
          </a:xfrm>
          <a:prstGeom prst="rect">
            <a:avLst/>
          </a:prstGeom>
        </p:spPr>
      </p:pic>
    </p:spTree>
    <p:extLst>
      <p:ext uri="{BB962C8B-B14F-4D97-AF65-F5344CB8AC3E}">
        <p14:creationId xmlns:p14="http://schemas.microsoft.com/office/powerpoint/2010/main" val="24272204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#5.3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0" y="4880325"/>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5" name="Tabla 6">
            <a:extLst>
              <a:ext uri="{FF2B5EF4-FFF2-40B4-BE49-F238E27FC236}">
                <a16:creationId xmlns:a16="http://schemas.microsoft.com/office/drawing/2014/main" id="{31D23819-ED85-4903-A11C-ED9A992A4C34}"/>
              </a:ext>
            </a:extLst>
          </p:cNvPr>
          <p:cNvGraphicFramePr>
            <a:graphicFrameLocks noGrp="1"/>
          </p:cNvGraphicFramePr>
          <p:nvPr>
            <p:extLst>
              <p:ext uri="{D42A27DB-BD31-4B8C-83A1-F6EECF244321}">
                <p14:modId xmlns:p14="http://schemas.microsoft.com/office/powerpoint/2010/main" val="222850975"/>
              </p:ext>
            </p:extLst>
          </p:nvPr>
        </p:nvGraphicFramePr>
        <p:xfrm>
          <a:off x="1420505" y="3746620"/>
          <a:ext cx="9525000" cy="743992"/>
        </p:xfrm>
        <a:graphic>
          <a:graphicData uri="http://schemas.openxmlformats.org/drawingml/2006/table">
            <a:tbl>
              <a:tblPr firstRow="1" bandRow="1">
                <a:tableStyleId>{5C22544A-7EE6-4342-B048-85BDC9FD1C3A}</a:tableStyleId>
              </a:tblPr>
              <a:tblGrid>
                <a:gridCol w="2761819">
                  <a:extLst>
                    <a:ext uri="{9D8B030D-6E8A-4147-A177-3AD203B41FA5}">
                      <a16:colId xmlns:a16="http://schemas.microsoft.com/office/drawing/2014/main" val="1794412849"/>
                    </a:ext>
                  </a:extLst>
                </a:gridCol>
                <a:gridCol w="609600">
                  <a:extLst>
                    <a:ext uri="{9D8B030D-6E8A-4147-A177-3AD203B41FA5}">
                      <a16:colId xmlns:a16="http://schemas.microsoft.com/office/drawing/2014/main" val="2100323231"/>
                    </a:ext>
                  </a:extLst>
                </a:gridCol>
                <a:gridCol w="685800">
                  <a:extLst>
                    <a:ext uri="{9D8B030D-6E8A-4147-A177-3AD203B41FA5}">
                      <a16:colId xmlns:a16="http://schemas.microsoft.com/office/drawing/2014/main" val="3349686945"/>
                    </a:ext>
                  </a:extLst>
                </a:gridCol>
                <a:gridCol w="1752600">
                  <a:extLst>
                    <a:ext uri="{9D8B030D-6E8A-4147-A177-3AD203B41FA5}">
                      <a16:colId xmlns:a16="http://schemas.microsoft.com/office/drawing/2014/main" val="2945410550"/>
                    </a:ext>
                  </a:extLst>
                </a:gridCol>
                <a:gridCol w="3715181">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13.2 + 1.35</a:t>
                      </a:r>
                    </a:p>
                  </a:txBody>
                  <a:tcPr/>
                </a:tc>
                <a:tc>
                  <a:txBody>
                    <a:bodyPr/>
                    <a:lstStyle/>
                    <a:p>
                      <a:r>
                        <a:rPr lang="es-ES" dirty="0"/>
                        <a:t>0.07</a:t>
                      </a:r>
                    </a:p>
                  </a:txBody>
                  <a:tcPr/>
                </a:tc>
                <a:tc>
                  <a:txBody>
                    <a:bodyPr/>
                    <a:lstStyle/>
                    <a:p>
                      <a:r>
                        <a:rPr lang="es-ES" dirty="0"/>
                        <a:t>-1.1</a:t>
                      </a:r>
                    </a:p>
                  </a:txBody>
                  <a:tcPr/>
                </a:tc>
                <a:tc>
                  <a:txBody>
                    <a:bodyPr/>
                    <a:lstStyle/>
                    <a:p>
                      <a:r>
                        <a:rPr lang="es-ES" b="0" i="0" dirty="0">
                          <a:solidFill>
                            <a:schemeClr val="dk1"/>
                          </a:solidFill>
                          <a:effectLst/>
                          <a:latin typeface="+mn-lt"/>
                          <a:ea typeface="+mn-ea"/>
                          <a:cs typeface="+mn-cs"/>
                        </a:rPr>
                        <a:t>0.0326</a:t>
                      </a:r>
                      <a:endParaRPr lang="es-ES" dirty="0"/>
                    </a:p>
                  </a:txBody>
                  <a:tcPr/>
                </a:tc>
                <a:tc>
                  <a:txBody>
                    <a:bodyPr/>
                    <a:lstStyle/>
                    <a:p>
                      <a:r>
                        <a:rPr lang="es-ES" b="0" i="0" dirty="0">
                          <a:solidFill>
                            <a:schemeClr val="dk1"/>
                          </a:solidFill>
                          <a:effectLst/>
                          <a:latin typeface="+mn-lt"/>
                          <a:ea typeface="+mn-ea"/>
                          <a:cs typeface="+mn-cs"/>
                        </a:rPr>
                        <a:t>['0.2444', '0.2556', '0.2556', '0.2444']</a:t>
                      </a:r>
                      <a:endParaRPr lang="es-ES" dirty="0"/>
                    </a:p>
                  </a:txBody>
                  <a:tcPr/>
                </a:tc>
                <a:extLst>
                  <a:ext uri="{0D108BD9-81ED-4DB2-BD59-A6C34878D82A}">
                    <a16:rowId xmlns:a16="http://schemas.microsoft.com/office/drawing/2014/main" val="4255659296"/>
                  </a:ext>
                </a:extLst>
              </a:tr>
            </a:tbl>
          </a:graphicData>
        </a:graphic>
      </p:graphicFrame>
      <p:pic>
        <p:nvPicPr>
          <p:cNvPr id="17" name="Imagen 16">
            <a:extLst>
              <a:ext uri="{FF2B5EF4-FFF2-40B4-BE49-F238E27FC236}">
                <a16:creationId xmlns:a16="http://schemas.microsoft.com/office/drawing/2014/main" id="{C588AC49-FC2C-484E-9B26-95200B92B47D}"/>
              </a:ext>
            </a:extLst>
          </p:cNvPr>
          <p:cNvPicPr>
            <a:picLocks noChangeAspect="1"/>
          </p:cNvPicPr>
          <p:nvPr/>
        </p:nvPicPr>
        <p:blipFill>
          <a:blip r:embed="rId5"/>
          <a:stretch>
            <a:fillRect/>
          </a:stretch>
        </p:blipFill>
        <p:spPr>
          <a:xfrm>
            <a:off x="1640460" y="1696646"/>
            <a:ext cx="4568966" cy="1982008"/>
          </a:xfrm>
          <a:prstGeom prst="rect">
            <a:avLst/>
          </a:prstGeom>
        </p:spPr>
      </p:pic>
      <p:pic>
        <p:nvPicPr>
          <p:cNvPr id="18" name="Imagen 17">
            <a:extLst>
              <a:ext uri="{FF2B5EF4-FFF2-40B4-BE49-F238E27FC236}">
                <a16:creationId xmlns:a16="http://schemas.microsoft.com/office/drawing/2014/main" id="{1E2B6480-0B07-42BC-AF2E-5C4D53D8C394}"/>
              </a:ext>
            </a:extLst>
          </p:cNvPr>
          <p:cNvPicPr>
            <a:picLocks noChangeAspect="1"/>
          </p:cNvPicPr>
          <p:nvPr/>
        </p:nvPicPr>
        <p:blipFill>
          <a:blip r:embed="rId6"/>
          <a:stretch>
            <a:fillRect/>
          </a:stretch>
        </p:blipFill>
        <p:spPr>
          <a:xfrm>
            <a:off x="6349210" y="1580895"/>
            <a:ext cx="4090190" cy="1859894"/>
          </a:xfrm>
          <a:prstGeom prst="rect">
            <a:avLst/>
          </a:prstGeom>
        </p:spPr>
      </p:pic>
    </p:spTree>
    <p:extLst>
      <p:ext uri="{BB962C8B-B14F-4D97-AF65-F5344CB8AC3E}">
        <p14:creationId xmlns:p14="http://schemas.microsoft.com/office/powerpoint/2010/main" val="1329759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19</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1226</TotalTime>
  <Words>1279</Words>
  <Application>Microsoft Office PowerPoint</Application>
  <PresentationFormat>Panorámica</PresentationFormat>
  <Paragraphs>249</Paragraphs>
  <Slides>19</Slides>
  <Notes>13</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19</vt:i4>
      </vt:variant>
    </vt:vector>
  </HeadingPairs>
  <TitlesOfParts>
    <vt:vector size="26" baseType="lpstr">
      <vt:lpstr>Aptos</vt:lpstr>
      <vt:lpstr>Arial</vt:lpstr>
      <vt:lpstr>Calibri</vt:lpstr>
      <vt:lpstr>Cambria Math</vt:lpstr>
      <vt:lpstr>Lucida Sans</vt:lpstr>
      <vt:lpstr>Times New Roman</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gap 0.6 - 1.6 µm (step 0.1 µm) – Wavelength 1.55 µm </vt:lpstr>
      <vt:lpstr>Presentación de PowerPoint</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#5.1 – 1x4 Multimode Interference Coupler  Wavelength 1.55 µm, wMMI = 13.2 µm</vt:lpstr>
      <vt:lpstr>Learning outcome #5.2 – 1x4 Multimode Interference Coupler  Wavelength 1.55 µm, wMMI = 13.2 µm</vt:lpstr>
      <vt:lpstr>Learning outcome #5.3 – 1x4 Multimode Interference Coupler  Wavelength 1.55 µm, wMMI = 13.2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44</cp:revision>
  <dcterms:created xsi:type="dcterms:W3CDTF">2025-01-27T02:46:57Z</dcterms:created>
  <dcterms:modified xsi:type="dcterms:W3CDTF">2026-03-11T15:45:23Z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